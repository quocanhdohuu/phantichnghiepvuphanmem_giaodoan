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Anton" pitchFamily="2" charset="0"/>
      <p:regular r:id="rId24"/>
    </p:embeddedFont>
    <p:embeddedFont>
      <p:font typeface="Inter" panose="020B0604020202020204" charset="0"/>
      <p:regular r:id="rId25"/>
    </p:embeddedFont>
    <p:embeddedFont>
      <p:font typeface="Inter Bold" panose="020B0604020202020204" charset="0"/>
      <p:regular r:id="rId26"/>
    </p:embeddedFont>
    <p:embeddedFont>
      <p:font typeface="Inter Medium" panose="020B0604020202020204" charset="0"/>
      <p:regular r:id="rId27"/>
    </p:embeddedFont>
    <p:embeddedFont>
      <p:font typeface="Noto Sans" panose="020B0502040504020204" pitchFamily="34" charset="0"/>
      <p:regular r:id="rId28"/>
    </p:embeddedFont>
    <p:embeddedFont>
      <p:font typeface="Noto Sans Bold" panose="020B0802040504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3" d="100"/>
          <a:sy n="43" d="100"/>
        </p:scale>
        <p:origin x="1456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DE98E-0667-4DD9-B2AB-2317014A51D5}" type="datetimeFigureOut">
              <a:rPr lang="en-US" smtClean="0"/>
              <a:t>12/06/2026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3C6D9-3D1B-44C2-8325-35326F438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84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3C6D9-3D1B-44C2-8325-35326F4382F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0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12/06/2026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12/06/2026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12/06/2026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sv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10" Type="http://schemas.openxmlformats.org/officeDocument/2006/relationships/image" Target="../media/image14.png"/><Relationship Id="rId4" Type="http://schemas.openxmlformats.org/officeDocument/2006/relationships/image" Target="../media/image4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18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4.svg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80320" y="0"/>
            <a:ext cx="8607680" cy="10287000"/>
            <a:chOff x="0" y="0"/>
            <a:chExt cx="22670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043" cy="2709333"/>
            </a:xfrm>
            <a:custGeom>
              <a:avLst/>
              <a:gdLst/>
              <a:ahLst/>
              <a:cxnLst/>
              <a:rect l="l" t="t" r="r" b="b"/>
              <a:pathLst>
                <a:path w="2267043" h="2709333">
                  <a:moveTo>
                    <a:pt x="0" y="0"/>
                  </a:moveTo>
                  <a:lnTo>
                    <a:pt x="2267043" y="0"/>
                  </a:lnTo>
                  <a:lnTo>
                    <a:pt x="22670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67043" cy="2756958"/>
            </a:xfrm>
            <a:prstGeom prst="rect">
              <a:avLst/>
            </a:prstGeom>
          </p:spPr>
          <p:txBody>
            <a:bodyPr lIns="76200" tIns="76200" rIns="76200" bIns="762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85030" y="514350"/>
            <a:ext cx="7288807" cy="9258300"/>
          </a:xfrm>
          <a:custGeom>
            <a:avLst/>
            <a:gdLst/>
            <a:ahLst/>
            <a:cxnLst/>
            <a:rect l="l" t="t" r="r" b="b"/>
            <a:pathLst>
              <a:path w="7288807" h="9258300">
                <a:moveTo>
                  <a:pt x="0" y="0"/>
                </a:moveTo>
                <a:lnTo>
                  <a:pt x="7288807" y="0"/>
                </a:lnTo>
                <a:lnTo>
                  <a:pt x="728880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0750091" y="3487458"/>
            <a:ext cx="6468137" cy="319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15"/>
              </a:lnSpc>
            </a:pPr>
            <a:r>
              <a:rPr lang="en-US" sz="765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ỨNG DỤNG FIGMA TRONG THIẾT KẾ PROTOTYPE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50091" y="6925177"/>
            <a:ext cx="6468137" cy="52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54"/>
              </a:lnSpc>
            </a:pPr>
            <a:r>
              <a:rPr lang="en-US" sz="311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NHÓM 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Page 01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B9F41095-B9F0-DF5E-835E-CED15F81E26B}"/>
              </a:ext>
            </a:extLst>
          </p:cNvPr>
          <p:cNvSpPr txBox="1"/>
          <p:nvPr/>
        </p:nvSpPr>
        <p:spPr>
          <a:xfrm>
            <a:off x="-5486400" y="7156047"/>
            <a:ext cx="4724897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Đỗ Hữu Quốc Anh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6A979C4B-C7FB-3D04-A2D1-65485A2ACA1A}"/>
              </a:ext>
            </a:extLst>
          </p:cNvPr>
          <p:cNvSpPr txBox="1"/>
          <p:nvPr/>
        </p:nvSpPr>
        <p:spPr>
          <a:xfrm>
            <a:off x="-5486399" y="8001699"/>
            <a:ext cx="4724896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Lưu Văn Đức Anh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DB1C88D4-A9BA-4E54-6639-C5B2157B2793}"/>
              </a:ext>
            </a:extLst>
          </p:cNvPr>
          <p:cNvSpPr txBox="1"/>
          <p:nvPr/>
        </p:nvSpPr>
        <p:spPr>
          <a:xfrm>
            <a:off x="-5486400" y="8848789"/>
            <a:ext cx="4724895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Bùi Kim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Trại</a:t>
            </a:r>
            <a:endParaRPr lang="en-US" sz="33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8" name="Group 2">
            <a:extLst>
              <a:ext uri="{FF2B5EF4-FFF2-40B4-BE49-F238E27FC236}">
                <a16:creationId xmlns:a16="http://schemas.microsoft.com/office/drawing/2014/main" id="{85D30D30-80C3-0A79-625B-F788C4375EDF}"/>
              </a:ext>
            </a:extLst>
          </p:cNvPr>
          <p:cNvGrpSpPr/>
          <p:nvPr/>
        </p:nvGrpSpPr>
        <p:grpSpPr>
          <a:xfrm>
            <a:off x="-5622077" y="-1165737"/>
            <a:ext cx="4072789" cy="6942441"/>
            <a:chOff x="0" y="0"/>
            <a:chExt cx="476830" cy="812800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40294A63-FBCD-EDED-D2A8-39710D196F65}"/>
                </a:ext>
              </a:extLst>
            </p:cNvPr>
            <p:cNvSpPr/>
            <p:nvPr/>
          </p:nvSpPr>
          <p:spPr>
            <a:xfrm>
              <a:off x="0" y="0"/>
              <a:ext cx="476830" cy="812800"/>
            </a:xfrm>
            <a:custGeom>
              <a:avLst/>
              <a:gdLst/>
              <a:ahLst/>
              <a:cxnLst/>
              <a:rect l="l" t="t" r="r" b="b"/>
              <a:pathLst>
                <a:path w="476830" h="812800">
                  <a:moveTo>
                    <a:pt x="0" y="0"/>
                  </a:moveTo>
                  <a:lnTo>
                    <a:pt x="476830" y="0"/>
                  </a:lnTo>
                  <a:lnTo>
                    <a:pt x="47683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6819" r="-6819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44C495DD-E405-3B80-A3FC-A5162C7D0B6F}"/>
              </a:ext>
            </a:extLst>
          </p:cNvPr>
          <p:cNvGrpSpPr/>
          <p:nvPr/>
        </p:nvGrpSpPr>
        <p:grpSpPr>
          <a:xfrm>
            <a:off x="24460200" y="3714488"/>
            <a:ext cx="4072789" cy="6942441"/>
            <a:chOff x="0" y="0"/>
            <a:chExt cx="476830" cy="812800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D0F5679B-3FBC-01C8-53D7-6DA813B4CD68}"/>
                </a:ext>
              </a:extLst>
            </p:cNvPr>
            <p:cNvSpPr/>
            <p:nvPr/>
          </p:nvSpPr>
          <p:spPr>
            <a:xfrm>
              <a:off x="0" y="0"/>
              <a:ext cx="476830" cy="812800"/>
            </a:xfrm>
            <a:custGeom>
              <a:avLst/>
              <a:gdLst/>
              <a:ahLst/>
              <a:cxnLst/>
              <a:rect l="l" t="t" r="r" b="b"/>
              <a:pathLst>
                <a:path w="476830" h="812800">
                  <a:moveTo>
                    <a:pt x="0" y="0"/>
                  </a:moveTo>
                  <a:lnTo>
                    <a:pt x="476830" y="0"/>
                  </a:lnTo>
                  <a:lnTo>
                    <a:pt x="47683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6871" r="-687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22" name="Freeform 6">
            <a:extLst>
              <a:ext uri="{FF2B5EF4-FFF2-40B4-BE49-F238E27FC236}">
                <a16:creationId xmlns:a16="http://schemas.microsoft.com/office/drawing/2014/main" id="{0F017505-2B27-E5A8-3CF9-39896492CE76}"/>
              </a:ext>
            </a:extLst>
          </p:cNvPr>
          <p:cNvSpPr/>
          <p:nvPr/>
        </p:nvSpPr>
        <p:spPr>
          <a:xfrm rot="678324">
            <a:off x="-869703" y="-2276063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7" y="0"/>
                </a:lnTo>
                <a:lnTo>
                  <a:pt x="774837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34ABBF78-ED3D-81DD-FF11-8F00DFD44252}"/>
              </a:ext>
            </a:extLst>
          </p:cNvPr>
          <p:cNvSpPr/>
          <p:nvPr/>
        </p:nvSpPr>
        <p:spPr>
          <a:xfrm>
            <a:off x="26871256" y="2305484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5">
            <a:extLst>
              <a:ext uri="{FF2B5EF4-FFF2-40B4-BE49-F238E27FC236}">
                <a16:creationId xmlns:a16="http://schemas.microsoft.com/office/drawing/2014/main" id="{ACC908D9-440E-1038-704F-B54C3A54F1C1}"/>
              </a:ext>
            </a:extLst>
          </p:cNvPr>
          <p:cNvGrpSpPr>
            <a:grpSpLocks noChangeAspect="1"/>
          </p:cNvGrpSpPr>
          <p:nvPr/>
        </p:nvGrpSpPr>
        <p:grpSpPr>
          <a:xfrm>
            <a:off x="17203940" y="3506508"/>
            <a:ext cx="713531" cy="713531"/>
            <a:chOff x="0" y="0"/>
            <a:chExt cx="6350000" cy="6350000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085EE43-0947-6396-B37E-8788A6C9056E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25DCBA3-BE07-300B-D9DA-57B2C7D028CC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C5E0FF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39403" y="2315859"/>
            <a:ext cx="4072789" cy="6942441"/>
            <a:chOff x="0" y="0"/>
            <a:chExt cx="47683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6830" cy="812800"/>
            </a:xfrm>
            <a:custGeom>
              <a:avLst/>
              <a:gdLst/>
              <a:ahLst/>
              <a:cxnLst/>
              <a:rect l="l" t="t" r="r" b="b"/>
              <a:pathLst>
                <a:path w="476830" h="812800">
                  <a:moveTo>
                    <a:pt x="0" y="0"/>
                  </a:moveTo>
                  <a:lnTo>
                    <a:pt x="476830" y="0"/>
                  </a:lnTo>
                  <a:lnTo>
                    <a:pt x="47683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6819" r="-6819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3186511" y="2315859"/>
            <a:ext cx="4072789" cy="6942441"/>
            <a:chOff x="0" y="0"/>
            <a:chExt cx="47683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6830" cy="812800"/>
            </a:xfrm>
            <a:custGeom>
              <a:avLst/>
              <a:gdLst/>
              <a:ahLst/>
              <a:cxnLst/>
              <a:rect l="l" t="t" r="r" b="b"/>
              <a:pathLst>
                <a:path w="476830" h="812800">
                  <a:moveTo>
                    <a:pt x="0" y="0"/>
                  </a:moveTo>
                  <a:lnTo>
                    <a:pt x="476830" y="0"/>
                  </a:lnTo>
                  <a:lnTo>
                    <a:pt x="47683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6871" r="-687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6" name="Freeform 6"/>
          <p:cNvSpPr/>
          <p:nvPr/>
        </p:nvSpPr>
        <p:spPr>
          <a:xfrm rot="678324">
            <a:off x="8551985" y="7520200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7" y="0"/>
                </a:lnTo>
                <a:lnTo>
                  <a:pt x="774837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09896" y="2981695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44272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459844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2187176"/>
            <a:ext cx="702515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THÀNH VIÊN NHÓM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4902" y="4051300"/>
            <a:ext cx="4724897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Đỗ Hữu Quốc Anh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4903" y="4896952"/>
            <a:ext cx="4724896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Lưu Văn Đức Anh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4902" y="5744042"/>
            <a:ext cx="4724895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Bùi Kim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Trại</a:t>
            </a:r>
            <a:endParaRPr lang="en-US" sz="33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83CB8679-D744-DA2C-4086-E2D2C511F063}"/>
              </a:ext>
            </a:extLst>
          </p:cNvPr>
          <p:cNvSpPr txBox="1"/>
          <p:nvPr/>
        </p:nvSpPr>
        <p:spPr>
          <a:xfrm>
            <a:off x="-8991600" y="1577576"/>
            <a:ext cx="7906293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NỘI DUNG TRÌNH BÀY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5508AC62-EF44-15D5-BAE7-028B6A6B6D45}"/>
              </a:ext>
            </a:extLst>
          </p:cNvPr>
          <p:cNvSpPr txBox="1"/>
          <p:nvPr/>
        </p:nvSpPr>
        <p:spPr>
          <a:xfrm>
            <a:off x="-8991600" y="3015344"/>
            <a:ext cx="711497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Các nội dung chính được trình bày trong bài thuyết trình nhóm 8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13159DEB-DD40-C8C9-3B8E-1C6957091CE0}"/>
              </a:ext>
            </a:extLst>
          </p:cNvPr>
          <p:cNvSpPr txBox="1"/>
          <p:nvPr/>
        </p:nvSpPr>
        <p:spPr>
          <a:xfrm>
            <a:off x="9781146" y="11655277"/>
            <a:ext cx="8979147" cy="842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Mở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đầu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–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Vấn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đề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trong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thực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tế</a:t>
            </a:r>
            <a:endParaRPr lang="en-US" sz="2935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Figma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là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gì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&amp; Vai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trò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trong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BA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Quy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trình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thiết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với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Figma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Wireframe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là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gì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Mockup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là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gì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Prototype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là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gì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Ưu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điểm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&amp;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Nhược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điểm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của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Figma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8.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Tạo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Prototype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trong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Figma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9.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Ví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dụ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thực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tế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10.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luận</a:t>
            </a:r>
            <a:endParaRPr lang="en-US" sz="2935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5079"/>
              </a:lnSpc>
            </a:pPr>
            <a:endParaRPr lang="en-US" sz="2935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5664"/>
              </a:lnSpc>
            </a:pPr>
            <a:endParaRPr lang="en-US" sz="2935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33042" y="1793004"/>
            <a:ext cx="7906293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NỘI DUNG TRÌNH BÀY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3042" y="3230772"/>
            <a:ext cx="711497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Các nội dung chính được trình bày trong bài thuyết trình nhóm 8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44272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459844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44000" y="1592979"/>
            <a:ext cx="8979147" cy="842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Mở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đầu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–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Vấn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đề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trong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thực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tế</a:t>
            </a:r>
            <a:endParaRPr lang="en-US" sz="2935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Figma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là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gì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&amp; Vai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trò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trong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BA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Quy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trình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thiết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với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Figma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Wireframe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là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gì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Mockup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là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gì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Prototype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là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gì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Ưu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điểm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&amp;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Nhược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điểm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của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Figma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8.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Tạo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Prototype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trong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Figma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9.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Ví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dụ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thực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tế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64"/>
              </a:lnSpc>
            </a:pP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10.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</a:t>
            </a:r>
            <a:r>
              <a:rPr lang="en-US" sz="293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35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luận</a:t>
            </a:r>
            <a:endParaRPr lang="en-US" sz="2935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5079"/>
              </a:lnSpc>
            </a:pPr>
            <a:endParaRPr lang="en-US" sz="2935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5664"/>
              </a:lnSpc>
            </a:pPr>
            <a:endParaRPr lang="en-US" sz="2935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49082D88-76A1-FC99-8486-157C86AE027F}"/>
              </a:ext>
            </a:extLst>
          </p:cNvPr>
          <p:cNvSpPr txBox="1"/>
          <p:nvPr/>
        </p:nvSpPr>
        <p:spPr>
          <a:xfrm>
            <a:off x="-15113692" y="2011572"/>
            <a:ext cx="15048744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1. MỞ ĐẦU – VẤN ĐỀ TRONG THỰC TẾ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B0851BE3-7EDD-EDD1-95D8-84EB2E864094}"/>
              </a:ext>
            </a:extLst>
          </p:cNvPr>
          <p:cNvSpPr txBox="1"/>
          <p:nvPr/>
        </p:nvSpPr>
        <p:spPr>
          <a:xfrm>
            <a:off x="20650200" y="835977"/>
            <a:ext cx="6604452" cy="655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Các </a:t>
            </a:r>
            <a:r>
              <a:rPr lang="en-US" sz="37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vai</a:t>
            </a:r>
            <a:r>
              <a:rPr lang="en-US" sz="37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7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trò</a:t>
            </a:r>
            <a:r>
              <a:rPr lang="en-US" sz="37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7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liên</a:t>
            </a:r>
            <a:r>
              <a:rPr lang="en-US" sz="37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7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quan</a:t>
            </a:r>
            <a:endParaRPr lang="en-US" sz="3799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4E03C07-5EEE-681D-3E19-264ACED1106F}"/>
              </a:ext>
            </a:extLst>
          </p:cNvPr>
          <p:cNvSpPr txBox="1"/>
          <p:nvPr/>
        </p:nvSpPr>
        <p:spPr>
          <a:xfrm>
            <a:off x="10097697" y="14380543"/>
            <a:ext cx="6285508" cy="3748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804" lvl="1" indent="-383402" algn="l">
              <a:lnSpc>
                <a:spcPts val="4972"/>
              </a:lnSpc>
              <a:buFont typeface="Arial"/>
              <a:buChar char="•"/>
            </a:pP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BA (Business Analyst) </a:t>
            </a:r>
          </a:p>
          <a:p>
            <a:pPr marL="766804" lvl="1" indent="-383402" algn="l">
              <a:lnSpc>
                <a:spcPts val="4972"/>
              </a:lnSpc>
              <a:buFont typeface="Arial"/>
              <a:buChar char="•"/>
            </a:pP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Designer (UI/UX) </a:t>
            </a:r>
          </a:p>
          <a:p>
            <a:pPr marL="766804" lvl="1" indent="-383402" algn="l">
              <a:lnSpc>
                <a:spcPts val="4972"/>
              </a:lnSpc>
              <a:buFont typeface="Arial"/>
              <a:buChar char="•"/>
            </a:pP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Developer </a:t>
            </a:r>
          </a:p>
          <a:p>
            <a:pPr marL="766804" lvl="1" indent="-383402" algn="l">
              <a:lnSpc>
                <a:spcPts val="4972"/>
              </a:lnSpc>
              <a:buFont typeface="Arial"/>
              <a:buChar char="•"/>
            </a:pP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Tester </a:t>
            </a:r>
          </a:p>
          <a:p>
            <a:pPr marL="766804" lvl="1" indent="-383402" algn="l">
              <a:lnSpc>
                <a:spcPts val="4972"/>
              </a:lnSpc>
              <a:buFont typeface="Arial"/>
              <a:buChar char="•"/>
            </a:pP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Stakeholder (</a:t>
            </a:r>
            <a:r>
              <a:rPr lang="en-US" sz="3551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khách</a:t>
            </a: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551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hàng</a:t>
            </a: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) </a:t>
            </a:r>
          </a:p>
          <a:p>
            <a:pPr algn="l">
              <a:lnSpc>
                <a:spcPts val="4972"/>
              </a:lnSpc>
            </a:pPr>
            <a:endParaRPr lang="en-US" sz="3551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8EEA4B8D-8DF3-A262-7EDD-B285A6F7F824}"/>
              </a:ext>
            </a:extLst>
          </p:cNvPr>
          <p:cNvSpPr/>
          <p:nvPr/>
        </p:nvSpPr>
        <p:spPr>
          <a:xfrm rot="678324">
            <a:off x="-6686935" y="8253041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37AF118E-0B13-763D-9470-C4BE920B42B7}"/>
              </a:ext>
            </a:extLst>
          </p:cNvPr>
          <p:cNvSpPr/>
          <p:nvPr/>
        </p:nvSpPr>
        <p:spPr>
          <a:xfrm>
            <a:off x="21107400" y="4533900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4"/>
                </a:lnTo>
                <a:lnTo>
                  <a:pt x="0" y="849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1951" y="2844429"/>
            <a:ext cx="9006576" cy="6413871"/>
            <a:chOff x="0" y="0"/>
            <a:chExt cx="1054463" cy="532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4463" cy="532376"/>
            </a:xfrm>
            <a:custGeom>
              <a:avLst/>
              <a:gdLst/>
              <a:ahLst/>
              <a:cxnLst/>
              <a:rect l="l" t="t" r="r" b="b"/>
              <a:pathLst>
                <a:path w="1054463" h="532376">
                  <a:moveTo>
                    <a:pt x="0" y="0"/>
                  </a:moveTo>
                  <a:lnTo>
                    <a:pt x="1054463" y="0"/>
                  </a:lnTo>
                  <a:lnTo>
                    <a:pt x="1054463" y="532376"/>
                  </a:lnTo>
                  <a:lnTo>
                    <a:pt x="0" y="532376"/>
                  </a:lnTo>
                  <a:close/>
                </a:path>
              </a:pathLst>
            </a:custGeom>
            <a:blipFill>
              <a:blip r:embed="rId2"/>
              <a:stretch>
                <a:fillRect t="-14371" b="-1437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rot="678324">
            <a:off x="641282" y="8596729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19123" y="4718818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4"/>
                </a:lnTo>
                <a:lnTo>
                  <a:pt x="0" y="849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70560"/>
            <a:ext cx="15048744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1. MỞ ĐẦU – VẤN ĐỀ TRONG THỰC TẾ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54848" y="2844429"/>
            <a:ext cx="6604452" cy="655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Các </a:t>
            </a:r>
            <a:r>
              <a:rPr lang="en-US" sz="37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vai</a:t>
            </a:r>
            <a:r>
              <a:rPr lang="en-US" sz="37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7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trò</a:t>
            </a:r>
            <a:r>
              <a:rPr lang="en-US" sz="37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7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liên</a:t>
            </a:r>
            <a:r>
              <a:rPr lang="en-US" sz="37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7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quan</a:t>
            </a:r>
            <a:endParaRPr lang="en-US" sz="3799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493355" y="4116403"/>
            <a:ext cx="6285508" cy="3748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804" lvl="1" indent="-383402" algn="l">
              <a:lnSpc>
                <a:spcPts val="4972"/>
              </a:lnSpc>
              <a:buFont typeface="Arial"/>
              <a:buChar char="•"/>
            </a:pP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BA (Business Analyst) </a:t>
            </a:r>
          </a:p>
          <a:p>
            <a:pPr marL="766804" lvl="1" indent="-383402" algn="l">
              <a:lnSpc>
                <a:spcPts val="4972"/>
              </a:lnSpc>
              <a:buFont typeface="Arial"/>
              <a:buChar char="•"/>
            </a:pP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Designer (UI/UX) </a:t>
            </a:r>
          </a:p>
          <a:p>
            <a:pPr marL="766804" lvl="1" indent="-383402" algn="l">
              <a:lnSpc>
                <a:spcPts val="4972"/>
              </a:lnSpc>
              <a:buFont typeface="Arial"/>
              <a:buChar char="•"/>
            </a:pP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Developer </a:t>
            </a:r>
          </a:p>
          <a:p>
            <a:pPr marL="766804" lvl="1" indent="-383402" algn="l">
              <a:lnSpc>
                <a:spcPts val="4972"/>
              </a:lnSpc>
              <a:buFont typeface="Arial"/>
              <a:buChar char="•"/>
            </a:pP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Tester </a:t>
            </a:r>
          </a:p>
          <a:p>
            <a:pPr marL="766804" lvl="1" indent="-383402" algn="l">
              <a:lnSpc>
                <a:spcPts val="4972"/>
              </a:lnSpc>
              <a:buFont typeface="Arial"/>
              <a:buChar char="•"/>
            </a:pP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Stakeholder (</a:t>
            </a:r>
            <a:r>
              <a:rPr lang="en-US" sz="3551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khách</a:t>
            </a: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551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hàng</a:t>
            </a:r>
            <a:r>
              <a:rPr lang="en-US" sz="355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) </a:t>
            </a:r>
          </a:p>
          <a:p>
            <a:pPr algn="l">
              <a:lnSpc>
                <a:spcPts val="4972"/>
              </a:lnSpc>
            </a:pPr>
            <a:endParaRPr lang="en-US" sz="3551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18CD301A-7CAE-C418-9E8A-1DCFDB876111}"/>
              </a:ext>
            </a:extLst>
          </p:cNvPr>
          <p:cNvGrpSpPr/>
          <p:nvPr/>
        </p:nvGrpSpPr>
        <p:grpSpPr>
          <a:xfrm>
            <a:off x="-7911126" y="6282587"/>
            <a:ext cx="3789050" cy="3164358"/>
            <a:chOff x="0" y="0"/>
            <a:chExt cx="973259" cy="812800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D1D2C45-96AB-8527-6330-C7B5AC6F0AA6}"/>
                </a:ext>
              </a:extLst>
            </p:cNvPr>
            <p:cNvSpPr/>
            <p:nvPr/>
          </p:nvSpPr>
          <p:spPr>
            <a:xfrm>
              <a:off x="0" y="0"/>
              <a:ext cx="973259" cy="812800"/>
            </a:xfrm>
            <a:custGeom>
              <a:avLst/>
              <a:gdLst/>
              <a:ahLst/>
              <a:cxnLst/>
              <a:rect l="l" t="t" r="r" b="b"/>
              <a:pathLst>
                <a:path w="973259" h="812800">
                  <a:moveTo>
                    <a:pt x="0" y="0"/>
                  </a:moveTo>
                  <a:lnTo>
                    <a:pt x="973259" y="0"/>
                  </a:lnTo>
                  <a:lnTo>
                    <a:pt x="97325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4119" r="-4119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4D2C39AF-30EC-A876-381D-166B8B11B91E}"/>
              </a:ext>
            </a:extLst>
          </p:cNvPr>
          <p:cNvSpPr/>
          <p:nvPr/>
        </p:nvSpPr>
        <p:spPr>
          <a:xfrm rot="678324">
            <a:off x="748546" y="16968605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66C05B68-44EB-610E-A711-26F4BA7F8DC7}"/>
              </a:ext>
            </a:extLst>
          </p:cNvPr>
          <p:cNvSpPr/>
          <p:nvPr/>
        </p:nvSpPr>
        <p:spPr>
          <a:xfrm>
            <a:off x="9099193" y="10399814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9">
            <a:extLst>
              <a:ext uri="{FF2B5EF4-FFF2-40B4-BE49-F238E27FC236}">
                <a16:creationId xmlns:a16="http://schemas.microsoft.com/office/drawing/2014/main" id="{633C52C3-147E-6DD6-687E-687841983E74}"/>
              </a:ext>
            </a:extLst>
          </p:cNvPr>
          <p:cNvGrpSpPr/>
          <p:nvPr/>
        </p:nvGrpSpPr>
        <p:grpSpPr>
          <a:xfrm>
            <a:off x="-7205685" y="1845847"/>
            <a:ext cx="3789050" cy="3164358"/>
            <a:chOff x="0" y="0"/>
            <a:chExt cx="973259" cy="812800"/>
          </a:xfrm>
        </p:grpSpPr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080A3AED-63B4-FE74-B7AE-5B5DDBC3AA56}"/>
                </a:ext>
              </a:extLst>
            </p:cNvPr>
            <p:cNvSpPr/>
            <p:nvPr/>
          </p:nvSpPr>
          <p:spPr>
            <a:xfrm>
              <a:off x="0" y="0"/>
              <a:ext cx="973259" cy="812800"/>
            </a:xfrm>
            <a:custGeom>
              <a:avLst/>
              <a:gdLst/>
              <a:ahLst/>
              <a:cxnLst/>
              <a:rect l="l" t="t" r="r" b="b"/>
              <a:pathLst>
                <a:path w="973259" h="812800">
                  <a:moveTo>
                    <a:pt x="0" y="0"/>
                  </a:moveTo>
                  <a:lnTo>
                    <a:pt x="973259" y="0"/>
                  </a:lnTo>
                  <a:lnTo>
                    <a:pt x="97325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t="-9870" b="-987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6" name="Group 11">
            <a:extLst>
              <a:ext uri="{FF2B5EF4-FFF2-40B4-BE49-F238E27FC236}">
                <a16:creationId xmlns:a16="http://schemas.microsoft.com/office/drawing/2014/main" id="{0B00FF6F-505A-2724-7A5B-F1ECB0093397}"/>
              </a:ext>
            </a:extLst>
          </p:cNvPr>
          <p:cNvGrpSpPr/>
          <p:nvPr/>
        </p:nvGrpSpPr>
        <p:grpSpPr>
          <a:xfrm>
            <a:off x="20508363" y="1280160"/>
            <a:ext cx="3789050" cy="3164358"/>
            <a:chOff x="0" y="0"/>
            <a:chExt cx="973259" cy="812800"/>
          </a:xfrm>
        </p:grpSpPr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6B500F5C-1D70-6F8D-F546-AFC22CA82EF8}"/>
                </a:ext>
              </a:extLst>
            </p:cNvPr>
            <p:cNvSpPr/>
            <p:nvPr/>
          </p:nvSpPr>
          <p:spPr>
            <a:xfrm>
              <a:off x="0" y="0"/>
              <a:ext cx="973259" cy="812800"/>
            </a:xfrm>
            <a:custGeom>
              <a:avLst/>
              <a:gdLst/>
              <a:ahLst/>
              <a:cxnLst/>
              <a:rect l="l" t="t" r="r" b="b"/>
              <a:pathLst>
                <a:path w="973259" h="812800">
                  <a:moveTo>
                    <a:pt x="0" y="0"/>
                  </a:moveTo>
                  <a:lnTo>
                    <a:pt x="973259" y="0"/>
                  </a:lnTo>
                  <a:lnTo>
                    <a:pt x="97325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9652" r="-965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8" name="Group 13">
            <a:extLst>
              <a:ext uri="{FF2B5EF4-FFF2-40B4-BE49-F238E27FC236}">
                <a16:creationId xmlns:a16="http://schemas.microsoft.com/office/drawing/2014/main" id="{43052A6D-0157-A68C-1B7F-19ADC7439351}"/>
              </a:ext>
            </a:extLst>
          </p:cNvPr>
          <p:cNvGrpSpPr/>
          <p:nvPr/>
        </p:nvGrpSpPr>
        <p:grpSpPr>
          <a:xfrm>
            <a:off x="20040600" y="5691607"/>
            <a:ext cx="3789050" cy="3164358"/>
            <a:chOff x="0" y="0"/>
            <a:chExt cx="973259" cy="812800"/>
          </a:xfrm>
        </p:grpSpPr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C4C277B0-919D-CDB9-D97F-CDF6EF204063}"/>
                </a:ext>
              </a:extLst>
            </p:cNvPr>
            <p:cNvSpPr/>
            <p:nvPr/>
          </p:nvSpPr>
          <p:spPr>
            <a:xfrm>
              <a:off x="0" y="0"/>
              <a:ext cx="973259" cy="812800"/>
            </a:xfrm>
            <a:custGeom>
              <a:avLst/>
              <a:gdLst/>
              <a:ahLst/>
              <a:cxnLst/>
              <a:rect l="l" t="t" r="r" b="b"/>
              <a:pathLst>
                <a:path w="973259" h="812800">
                  <a:moveTo>
                    <a:pt x="0" y="0"/>
                  </a:moveTo>
                  <a:lnTo>
                    <a:pt x="973259" y="0"/>
                  </a:lnTo>
                  <a:lnTo>
                    <a:pt x="97325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3792" r="-379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20" name="TextBox 16">
            <a:extLst>
              <a:ext uri="{FF2B5EF4-FFF2-40B4-BE49-F238E27FC236}">
                <a16:creationId xmlns:a16="http://schemas.microsoft.com/office/drawing/2014/main" id="{637B5757-D9BD-2AAA-16DD-1BAE3AC0A005}"/>
              </a:ext>
            </a:extLst>
          </p:cNvPr>
          <p:cNvSpPr txBox="1"/>
          <p:nvPr/>
        </p:nvSpPr>
        <p:spPr>
          <a:xfrm>
            <a:off x="9585902" y="11106876"/>
            <a:ext cx="771333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BA MÔ TẢ BẰNG CHỮ → DEV HIỂU SAI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499D5FEE-22B7-6843-F175-692865AB756E}"/>
              </a:ext>
            </a:extLst>
          </p:cNvPr>
          <p:cNvSpPr txBox="1"/>
          <p:nvPr/>
        </p:nvSpPr>
        <p:spPr>
          <a:xfrm>
            <a:off x="10036685" y="13980028"/>
            <a:ext cx="7713338" cy="342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Các vấn đề trên đều xuất phát từ sự khác biệt trong cách hiểu và truyền đạt giữa các vai trò:</a:t>
            </a:r>
          </a:p>
          <a:p>
            <a:pPr algn="l">
              <a:lnSpc>
                <a:spcPts val="3067"/>
              </a:lnSpc>
            </a:pPr>
            <a:r>
              <a:rPr lang="en-US" sz="219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👉 Khi chỉ sử dụng mô tả bằng chữ → dễ gây mơ hồ, sai lệch yêu cầu</a:t>
            </a:r>
          </a:p>
          <a:p>
            <a:pPr algn="l">
              <a:lnSpc>
                <a:spcPts val="3067"/>
              </a:lnSpc>
            </a:pPr>
            <a:r>
              <a:rPr lang="en-US" sz="219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👉 Điều này dẫn đến sản phẩm không đúng kỳ vọng và tốn chi phí chỉnh sửa</a:t>
            </a:r>
          </a:p>
          <a:p>
            <a:pPr algn="l">
              <a:lnSpc>
                <a:spcPts val="3067"/>
              </a:lnSpc>
            </a:pPr>
            <a:r>
              <a:rPr lang="en-US" sz="219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👉 Vì vậy, cần một công cụ trực quan làm “ngôn ngữ chung” giúp tất cả cùng hiểu</a:t>
            </a:r>
          </a:p>
          <a:p>
            <a:pPr algn="l">
              <a:lnSpc>
                <a:spcPts val="3067"/>
              </a:lnSpc>
            </a:pPr>
            <a:endParaRPr lang="en-US" sz="219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C8DDB3E5-3584-CF81-846A-16E8099C2B2B}"/>
              </a:ext>
            </a:extLst>
          </p:cNvPr>
          <p:cNvSpPr txBox="1"/>
          <p:nvPr/>
        </p:nvSpPr>
        <p:spPr>
          <a:xfrm>
            <a:off x="9585902" y="11830776"/>
            <a:ext cx="771333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DESIGNER THIẾT KẾ ĐẸP NHƯNG KHÔNG ĐÚNG NGHIỆP VỤ 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7FD564B7-98D9-B594-3E32-8E3B739FD08C}"/>
              </a:ext>
            </a:extLst>
          </p:cNvPr>
          <p:cNvSpPr txBox="1"/>
          <p:nvPr/>
        </p:nvSpPr>
        <p:spPr>
          <a:xfrm>
            <a:off x="9585902" y="12537711"/>
            <a:ext cx="8614903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DEV LÀM XONG → KHÁCH HÀNG NÓI “KHÔNG GIỐNG MONG MUỐN” </a:t>
            </a: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D2AE813A-6F06-A9BF-820D-5765B8A9A8E7}"/>
              </a:ext>
            </a:extLst>
          </p:cNvPr>
          <p:cNvSpPr txBox="1"/>
          <p:nvPr/>
        </p:nvSpPr>
        <p:spPr>
          <a:xfrm>
            <a:off x="9585902" y="13261611"/>
            <a:ext cx="771333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THIẾU “NGÔN NGỮ CHUNG” GIỮA CÁC BÊN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95750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11322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26894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6093942"/>
            <a:ext cx="3789050" cy="3164358"/>
            <a:chOff x="0" y="0"/>
            <a:chExt cx="97325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73259" cy="812800"/>
            </a:xfrm>
            <a:custGeom>
              <a:avLst/>
              <a:gdLst/>
              <a:ahLst/>
              <a:cxnLst/>
              <a:rect l="l" t="t" r="r" b="b"/>
              <a:pathLst>
                <a:path w="973259" h="812800">
                  <a:moveTo>
                    <a:pt x="0" y="0"/>
                  </a:moveTo>
                  <a:lnTo>
                    <a:pt x="973259" y="0"/>
                  </a:lnTo>
                  <a:lnTo>
                    <a:pt x="97325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4119" r="-4119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7" name="Freeform 7"/>
          <p:cNvSpPr/>
          <p:nvPr/>
        </p:nvSpPr>
        <p:spPr>
          <a:xfrm rot="678324">
            <a:off x="748546" y="8459969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099193" y="1891178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28700" y="2647822"/>
            <a:ext cx="3789050" cy="3164358"/>
            <a:chOff x="0" y="0"/>
            <a:chExt cx="973259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3259" cy="812800"/>
            </a:xfrm>
            <a:custGeom>
              <a:avLst/>
              <a:gdLst/>
              <a:ahLst/>
              <a:cxnLst/>
              <a:rect l="l" t="t" r="r" b="b"/>
              <a:pathLst>
                <a:path w="973259" h="812800">
                  <a:moveTo>
                    <a:pt x="0" y="0"/>
                  </a:moveTo>
                  <a:lnTo>
                    <a:pt x="973259" y="0"/>
                  </a:lnTo>
                  <a:lnTo>
                    <a:pt x="97325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t="-9870" b="-987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063946" y="2647822"/>
            <a:ext cx="3789050" cy="3164358"/>
            <a:chOff x="0" y="0"/>
            <a:chExt cx="973259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3259" cy="812800"/>
            </a:xfrm>
            <a:custGeom>
              <a:avLst/>
              <a:gdLst/>
              <a:ahLst/>
              <a:cxnLst/>
              <a:rect l="l" t="t" r="r" b="b"/>
              <a:pathLst>
                <a:path w="973259" h="812800">
                  <a:moveTo>
                    <a:pt x="0" y="0"/>
                  </a:moveTo>
                  <a:lnTo>
                    <a:pt x="973259" y="0"/>
                  </a:lnTo>
                  <a:lnTo>
                    <a:pt x="97325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9652" r="-965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063946" y="6093942"/>
            <a:ext cx="3789050" cy="3164358"/>
            <a:chOff x="0" y="0"/>
            <a:chExt cx="973259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73259" cy="812800"/>
            </a:xfrm>
            <a:custGeom>
              <a:avLst/>
              <a:gdLst/>
              <a:ahLst/>
              <a:cxnLst/>
              <a:rect l="l" t="t" r="r" b="b"/>
              <a:pathLst>
                <a:path w="973259" h="812800">
                  <a:moveTo>
                    <a:pt x="0" y="0"/>
                  </a:moveTo>
                  <a:lnTo>
                    <a:pt x="973259" y="0"/>
                  </a:lnTo>
                  <a:lnTo>
                    <a:pt x="97325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3792" r="-379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85902" y="2598240"/>
            <a:ext cx="771333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BA MÔ TẢ BẰNG CHỮ → DEV HIỂU SAI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36685" y="5471392"/>
            <a:ext cx="7713338" cy="342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Các vấn đề trên đều xuất phát từ sự khác biệt trong cách hiểu và truyền đạt giữa các vai trò:</a:t>
            </a:r>
          </a:p>
          <a:p>
            <a:pPr algn="l">
              <a:lnSpc>
                <a:spcPts val="3067"/>
              </a:lnSpc>
            </a:pPr>
            <a:r>
              <a:rPr lang="en-US" sz="219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👉 Khi chỉ sử dụng mô tả bằng chữ → dễ gây mơ hồ, sai lệch yêu cầu</a:t>
            </a:r>
          </a:p>
          <a:p>
            <a:pPr algn="l">
              <a:lnSpc>
                <a:spcPts val="3067"/>
              </a:lnSpc>
            </a:pPr>
            <a:r>
              <a:rPr lang="en-US" sz="219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👉 Điều này dẫn đến sản phẩm không đúng kỳ vọng và tốn chi phí chỉnh sửa</a:t>
            </a:r>
          </a:p>
          <a:p>
            <a:pPr algn="l">
              <a:lnSpc>
                <a:spcPts val="3067"/>
              </a:lnSpc>
            </a:pPr>
            <a:r>
              <a:rPr lang="en-US" sz="219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👉 Vì vậy, cần một công cụ trực quan làm “ngôn ngữ chung” giúp tất cả cùng hiểu</a:t>
            </a:r>
          </a:p>
          <a:p>
            <a:pPr algn="l">
              <a:lnSpc>
                <a:spcPts val="3067"/>
              </a:lnSpc>
            </a:pPr>
            <a:endParaRPr lang="en-US" sz="219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585902" y="3322140"/>
            <a:ext cx="771333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DESIGNER THIẾT KẾ ĐẸP NHƯNG KHÔNG ĐÚNG NGHIỆP VỤ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85902" y="4029075"/>
            <a:ext cx="8614903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DEV LÀM XONG → KHÁCH HÀNG NÓI “KHÔNG GIỐNG MONG MUỐN”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85902" y="4752975"/>
            <a:ext cx="771333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THIẾU “NGÔN NGỮ CHUNG” GIỮA CÁC BÊN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671978"/>
            <a:ext cx="1407204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1. MỞ ĐẦU – VẤN ĐỀ TRONG THỰC TẾ</a:t>
            </a:r>
          </a:p>
        </p:txBody>
      </p:sp>
      <p:grpSp>
        <p:nvGrpSpPr>
          <p:cNvPr id="30" name="Group 2">
            <a:extLst>
              <a:ext uri="{FF2B5EF4-FFF2-40B4-BE49-F238E27FC236}">
                <a16:creationId xmlns:a16="http://schemas.microsoft.com/office/drawing/2014/main" id="{E854FC5A-A303-0664-1441-9B36BE63705A}"/>
              </a:ext>
            </a:extLst>
          </p:cNvPr>
          <p:cNvGrpSpPr/>
          <p:nvPr/>
        </p:nvGrpSpPr>
        <p:grpSpPr>
          <a:xfrm>
            <a:off x="-10287000" y="3712665"/>
            <a:ext cx="7929191" cy="4537168"/>
            <a:chOff x="0" y="0"/>
            <a:chExt cx="940884" cy="538384"/>
          </a:xfrm>
        </p:grpSpPr>
        <p:sp>
          <p:nvSpPr>
            <p:cNvPr id="31" name="Freeform 3">
              <a:extLst>
                <a:ext uri="{FF2B5EF4-FFF2-40B4-BE49-F238E27FC236}">
                  <a16:creationId xmlns:a16="http://schemas.microsoft.com/office/drawing/2014/main" id="{70CF0661-60BE-405C-78BA-BB60A74E19CE}"/>
                </a:ext>
              </a:extLst>
            </p:cNvPr>
            <p:cNvSpPr/>
            <p:nvPr/>
          </p:nvSpPr>
          <p:spPr>
            <a:xfrm>
              <a:off x="0" y="0"/>
              <a:ext cx="940884" cy="538384"/>
            </a:xfrm>
            <a:custGeom>
              <a:avLst/>
              <a:gdLst/>
              <a:ahLst/>
              <a:cxnLst/>
              <a:rect l="l" t="t" r="r" b="b"/>
              <a:pathLst>
                <a:path w="940884" h="538384">
                  <a:moveTo>
                    <a:pt x="0" y="0"/>
                  </a:moveTo>
                  <a:lnTo>
                    <a:pt x="940884" y="0"/>
                  </a:lnTo>
                  <a:lnTo>
                    <a:pt x="940884" y="538384"/>
                  </a:lnTo>
                  <a:lnTo>
                    <a:pt x="0" y="538384"/>
                  </a:lnTo>
                  <a:close/>
                </a:path>
              </a:pathLst>
            </a:custGeom>
            <a:blipFill>
              <a:blip r:embed="rId9"/>
              <a:stretch>
                <a:fillRect l="-863" r="-86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32" name="Group 4">
            <a:extLst>
              <a:ext uri="{FF2B5EF4-FFF2-40B4-BE49-F238E27FC236}">
                <a16:creationId xmlns:a16="http://schemas.microsoft.com/office/drawing/2014/main" id="{5B9B20E7-FE5B-D1DD-1F25-171341A815E5}"/>
              </a:ext>
            </a:extLst>
          </p:cNvPr>
          <p:cNvGrpSpPr/>
          <p:nvPr/>
        </p:nvGrpSpPr>
        <p:grpSpPr>
          <a:xfrm>
            <a:off x="19659600" y="3825358"/>
            <a:ext cx="8036455" cy="4537168"/>
            <a:chOff x="0" y="0"/>
            <a:chExt cx="940884" cy="531198"/>
          </a:xfrm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5A8CB5C6-572F-2C87-2217-257A14414CF0}"/>
                </a:ext>
              </a:extLst>
            </p:cNvPr>
            <p:cNvSpPr/>
            <p:nvPr/>
          </p:nvSpPr>
          <p:spPr>
            <a:xfrm>
              <a:off x="0" y="0"/>
              <a:ext cx="940884" cy="531198"/>
            </a:xfrm>
            <a:custGeom>
              <a:avLst/>
              <a:gdLst/>
              <a:ahLst/>
              <a:cxnLst/>
              <a:rect l="l" t="t" r="r" b="b"/>
              <a:pathLst>
                <a:path w="940884" h="531198">
                  <a:moveTo>
                    <a:pt x="0" y="0"/>
                  </a:moveTo>
                  <a:lnTo>
                    <a:pt x="940884" y="0"/>
                  </a:lnTo>
                  <a:lnTo>
                    <a:pt x="940884" y="531198"/>
                  </a:lnTo>
                  <a:lnTo>
                    <a:pt x="0" y="531198"/>
                  </a:lnTo>
                  <a:close/>
                </a:path>
              </a:pathLst>
            </a:custGeom>
            <a:blipFill>
              <a:blip r:embed="rId10"/>
              <a:stretch>
                <a:fillRect l="-184" r="-184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34" name="Freeform 6">
            <a:extLst>
              <a:ext uri="{FF2B5EF4-FFF2-40B4-BE49-F238E27FC236}">
                <a16:creationId xmlns:a16="http://schemas.microsoft.com/office/drawing/2014/main" id="{9CBBFBD4-CF87-16BF-E29A-317433C723B0}"/>
              </a:ext>
            </a:extLst>
          </p:cNvPr>
          <p:cNvSpPr/>
          <p:nvPr/>
        </p:nvSpPr>
        <p:spPr>
          <a:xfrm rot="678324">
            <a:off x="996043" y="17715136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31C98B02-03D4-E539-F189-6FFD8275F7ED}"/>
              </a:ext>
            </a:extLst>
          </p:cNvPr>
          <p:cNvSpPr/>
          <p:nvPr/>
        </p:nvSpPr>
        <p:spPr>
          <a:xfrm>
            <a:off x="17257393" y="14556295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DEFFFC3D-A1A0-BAC7-9AFB-F69D9184042B}"/>
              </a:ext>
            </a:extLst>
          </p:cNvPr>
          <p:cNvSpPr txBox="1"/>
          <p:nvPr/>
        </p:nvSpPr>
        <p:spPr>
          <a:xfrm>
            <a:off x="1276197" y="11558511"/>
            <a:ext cx="1511664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58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GIẢI PHÁP: CÔNG CỤ TRỰC QUAN (FIGMA)</a:t>
            </a: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9E2B1C03-06FC-030B-7B54-AE19D2B8FA66}"/>
              </a:ext>
            </a:extLst>
          </p:cNvPr>
          <p:cNvSpPr txBox="1"/>
          <p:nvPr/>
        </p:nvSpPr>
        <p:spPr>
          <a:xfrm>
            <a:off x="1276197" y="12572526"/>
            <a:ext cx="71749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Figma = ngôn ngữ chung cho tất cả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5964" y="4721132"/>
            <a:ext cx="7929191" cy="4537168"/>
            <a:chOff x="0" y="0"/>
            <a:chExt cx="940884" cy="5383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0884" cy="538384"/>
            </a:xfrm>
            <a:custGeom>
              <a:avLst/>
              <a:gdLst/>
              <a:ahLst/>
              <a:cxnLst/>
              <a:rect l="l" t="t" r="r" b="b"/>
              <a:pathLst>
                <a:path w="940884" h="538384">
                  <a:moveTo>
                    <a:pt x="0" y="0"/>
                  </a:moveTo>
                  <a:lnTo>
                    <a:pt x="940884" y="0"/>
                  </a:lnTo>
                  <a:lnTo>
                    <a:pt x="940884" y="538384"/>
                  </a:lnTo>
                  <a:lnTo>
                    <a:pt x="0" y="538384"/>
                  </a:lnTo>
                  <a:close/>
                </a:path>
              </a:pathLst>
            </a:custGeom>
            <a:blipFill>
              <a:blip r:embed="rId2"/>
              <a:stretch>
                <a:fillRect l="-863" r="-86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222845" y="4721132"/>
            <a:ext cx="8036455" cy="4537168"/>
            <a:chOff x="0" y="0"/>
            <a:chExt cx="940884" cy="5311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0884" cy="531198"/>
            </a:xfrm>
            <a:custGeom>
              <a:avLst/>
              <a:gdLst/>
              <a:ahLst/>
              <a:cxnLst/>
              <a:rect l="l" t="t" r="r" b="b"/>
              <a:pathLst>
                <a:path w="940884" h="531198">
                  <a:moveTo>
                    <a:pt x="0" y="0"/>
                  </a:moveTo>
                  <a:lnTo>
                    <a:pt x="940884" y="0"/>
                  </a:lnTo>
                  <a:lnTo>
                    <a:pt x="940884" y="531198"/>
                  </a:lnTo>
                  <a:lnTo>
                    <a:pt x="0" y="531198"/>
                  </a:lnTo>
                  <a:close/>
                </a:path>
              </a:pathLst>
            </a:custGeom>
            <a:blipFill>
              <a:blip r:embed="rId3"/>
              <a:stretch>
                <a:fillRect l="-184" r="-184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6" name="Freeform 6"/>
          <p:cNvSpPr/>
          <p:nvPr/>
        </p:nvSpPr>
        <p:spPr>
          <a:xfrm rot="678324">
            <a:off x="748546" y="8459969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09896" y="5301128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303344"/>
            <a:ext cx="1511664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58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GIẢI PHÁP: CÔNG CỤ TRỰC QUAN (FIGMA)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71978"/>
            <a:ext cx="1407204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1. MỞ ĐẦU – VẤN ĐỀ TRONG THỰC TẾ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317359"/>
            <a:ext cx="71749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Figma = ngôn ngữ chung cho tất cả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F68F0BDE-A712-1AC1-7FBE-EEE9CC12522A}"/>
              </a:ext>
            </a:extLst>
          </p:cNvPr>
          <p:cNvGrpSpPr/>
          <p:nvPr/>
        </p:nvGrpSpPr>
        <p:grpSpPr>
          <a:xfrm>
            <a:off x="18994275" y="1875660"/>
            <a:ext cx="8115300" cy="4617146"/>
            <a:chOff x="0" y="0"/>
            <a:chExt cx="940884" cy="535310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131E490D-81FE-DAE8-0BC0-AC840C408F30}"/>
                </a:ext>
              </a:extLst>
            </p:cNvPr>
            <p:cNvSpPr/>
            <p:nvPr/>
          </p:nvSpPr>
          <p:spPr>
            <a:xfrm>
              <a:off x="0" y="0"/>
              <a:ext cx="940884" cy="535310"/>
            </a:xfrm>
            <a:custGeom>
              <a:avLst/>
              <a:gdLst/>
              <a:ahLst/>
              <a:cxnLst/>
              <a:rect l="l" t="t" r="r" b="b"/>
              <a:pathLst>
                <a:path w="940884" h="535310">
                  <a:moveTo>
                    <a:pt x="0" y="0"/>
                  </a:moveTo>
                  <a:lnTo>
                    <a:pt x="940884" y="0"/>
                  </a:lnTo>
                  <a:lnTo>
                    <a:pt x="940884" y="535310"/>
                  </a:lnTo>
                  <a:lnTo>
                    <a:pt x="0" y="535310"/>
                  </a:lnTo>
                  <a:close/>
                </a:path>
              </a:pathLst>
            </a:custGeom>
            <a:blipFill>
              <a:blip r:embed="rId6"/>
              <a:stretch>
                <a:fillRect l="-572" r="-57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4" name="Freeform 4">
            <a:extLst>
              <a:ext uri="{FF2B5EF4-FFF2-40B4-BE49-F238E27FC236}">
                <a16:creationId xmlns:a16="http://schemas.microsoft.com/office/drawing/2014/main" id="{23D591A3-2135-7F20-6B5E-A9C3AB6B4839}"/>
              </a:ext>
            </a:extLst>
          </p:cNvPr>
          <p:cNvSpPr/>
          <p:nvPr/>
        </p:nvSpPr>
        <p:spPr>
          <a:xfrm rot="678324">
            <a:off x="530758" y="18495333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97FB31E2-D64C-CE52-AD90-74FAC62F6466}"/>
              </a:ext>
            </a:extLst>
          </p:cNvPr>
          <p:cNvSpPr/>
          <p:nvPr/>
        </p:nvSpPr>
        <p:spPr>
          <a:xfrm>
            <a:off x="8784072" y="14102606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4"/>
                </a:lnTo>
                <a:lnTo>
                  <a:pt x="0" y="849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DD88E54B-63CD-8266-808A-84FCB13A8AEC}"/>
              </a:ext>
            </a:extLst>
          </p:cNvPr>
          <p:cNvSpPr txBox="1"/>
          <p:nvPr/>
        </p:nvSpPr>
        <p:spPr>
          <a:xfrm>
            <a:off x="-14072049" y="554355"/>
            <a:ext cx="1407204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2. FIGMA LÀ GÌ &amp; VAI TRÒ TRONG BA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76B91B11-DFA9-EDD6-9C12-FE901F2C43AF}"/>
              </a:ext>
            </a:extLst>
          </p:cNvPr>
          <p:cNvSpPr txBox="1"/>
          <p:nvPr/>
        </p:nvSpPr>
        <p:spPr>
          <a:xfrm>
            <a:off x="-6664499" y="5282261"/>
            <a:ext cx="390693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Figma là gì?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B8CB93EE-5D77-DCF5-D9BC-721BBD793F34}"/>
              </a:ext>
            </a:extLst>
          </p:cNvPr>
          <p:cNvSpPr txBox="1"/>
          <p:nvPr/>
        </p:nvSpPr>
        <p:spPr>
          <a:xfrm>
            <a:off x="9282880" y="14219466"/>
            <a:ext cx="8622804" cy="445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Công cụ thiết kế UI/UX trên nền web 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Làm việc realtime (giống Google Docs) 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Dùng để: </a:t>
            </a:r>
          </a:p>
          <a:p>
            <a:pPr marL="1468119" lvl="2" indent="-489373" algn="l">
              <a:lnSpc>
                <a:spcPts val="5983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Thiết kế giao diện </a:t>
            </a:r>
          </a:p>
          <a:p>
            <a:pPr marL="1468119" lvl="2" indent="-489373" algn="l">
              <a:lnSpc>
                <a:spcPts val="5983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Tạo prototype (mô phỏng app) </a:t>
            </a:r>
          </a:p>
          <a:p>
            <a:pPr algn="l">
              <a:lnSpc>
                <a:spcPts val="5983"/>
              </a:lnSpc>
            </a:pPr>
            <a:endParaRPr lang="en-US" sz="3399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9296" y="3742608"/>
            <a:ext cx="8115300" cy="4617146"/>
            <a:chOff x="0" y="0"/>
            <a:chExt cx="940884" cy="535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0884" cy="535310"/>
            </a:xfrm>
            <a:custGeom>
              <a:avLst/>
              <a:gdLst/>
              <a:ahLst/>
              <a:cxnLst/>
              <a:rect l="l" t="t" r="r" b="b"/>
              <a:pathLst>
                <a:path w="940884" h="535310">
                  <a:moveTo>
                    <a:pt x="0" y="0"/>
                  </a:moveTo>
                  <a:lnTo>
                    <a:pt x="940884" y="0"/>
                  </a:lnTo>
                  <a:lnTo>
                    <a:pt x="940884" y="535310"/>
                  </a:lnTo>
                  <a:lnTo>
                    <a:pt x="0" y="535310"/>
                  </a:lnTo>
                  <a:close/>
                </a:path>
              </a:pathLst>
            </a:custGeom>
            <a:blipFill>
              <a:blip r:embed="rId2"/>
              <a:stretch>
                <a:fillRect l="-572" r="-57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rot="678324">
            <a:off x="391878" y="7837500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645192" y="3444773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4"/>
                </a:lnTo>
                <a:lnTo>
                  <a:pt x="0" y="849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71978"/>
            <a:ext cx="1407204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2. FIGMA LÀ GÌ &amp; VAI TRÒ TRONG BA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120436"/>
            <a:ext cx="390693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Figma là gì?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3561633"/>
            <a:ext cx="8622804" cy="445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Công cụ thiết kế UI/UX trên nền web 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Làm việc realtime (giống Google Docs) 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Dùng để: </a:t>
            </a:r>
          </a:p>
          <a:p>
            <a:pPr marL="1468119" lvl="2" indent="-489373" algn="l">
              <a:lnSpc>
                <a:spcPts val="5983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Thiết kế giao diện </a:t>
            </a:r>
          </a:p>
          <a:p>
            <a:pPr marL="1468119" lvl="2" indent="-489373" algn="l">
              <a:lnSpc>
                <a:spcPts val="5983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Tạo prototype (mô phỏng app) </a:t>
            </a:r>
          </a:p>
          <a:p>
            <a:pPr algn="l">
              <a:lnSpc>
                <a:spcPts val="5983"/>
              </a:lnSpc>
            </a:pPr>
            <a:endParaRPr lang="en-US" sz="3399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337B447B-F112-B0D9-77CA-E80AD4ACB477}"/>
              </a:ext>
            </a:extLst>
          </p:cNvPr>
          <p:cNvSpPr/>
          <p:nvPr/>
        </p:nvSpPr>
        <p:spPr>
          <a:xfrm>
            <a:off x="-7620000" y="10671776"/>
            <a:ext cx="6430865" cy="6430865"/>
          </a:xfrm>
          <a:custGeom>
            <a:avLst/>
            <a:gdLst/>
            <a:ahLst/>
            <a:cxnLst/>
            <a:rect l="l" t="t" r="r" b="b"/>
            <a:pathLst>
              <a:path w="6430865" h="6430865">
                <a:moveTo>
                  <a:pt x="0" y="0"/>
                </a:moveTo>
                <a:lnTo>
                  <a:pt x="6430865" y="0"/>
                </a:lnTo>
                <a:lnTo>
                  <a:pt x="6430865" y="6430865"/>
                </a:lnTo>
                <a:lnTo>
                  <a:pt x="0" y="6430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02A6A1E9-0393-0B9E-A6A2-61B4AA043D97}"/>
              </a:ext>
            </a:extLst>
          </p:cNvPr>
          <p:cNvSpPr/>
          <p:nvPr/>
        </p:nvSpPr>
        <p:spPr>
          <a:xfrm rot="-1833399">
            <a:off x="8092182" y="12970028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FC871B72-656A-A963-2C4A-5442B07666DD}"/>
              </a:ext>
            </a:extLst>
          </p:cNvPr>
          <p:cNvSpPr/>
          <p:nvPr/>
        </p:nvSpPr>
        <p:spPr>
          <a:xfrm rot="8953947">
            <a:off x="1390425" y="18276178"/>
            <a:ext cx="597091" cy="804902"/>
          </a:xfrm>
          <a:custGeom>
            <a:avLst/>
            <a:gdLst/>
            <a:ahLst/>
            <a:cxnLst/>
            <a:rect l="l" t="t" r="r" b="b"/>
            <a:pathLst>
              <a:path w="597091" h="804902">
                <a:moveTo>
                  <a:pt x="0" y="0"/>
                </a:moveTo>
                <a:lnTo>
                  <a:pt x="597091" y="0"/>
                </a:lnTo>
                <a:lnTo>
                  <a:pt x="597091" y="804902"/>
                </a:lnTo>
                <a:lnTo>
                  <a:pt x="0" y="80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1EE8A770-C7ED-AB68-523D-30567F156E21}"/>
              </a:ext>
            </a:extLst>
          </p:cNvPr>
          <p:cNvGrpSpPr>
            <a:grpSpLocks noChangeAspect="1"/>
          </p:cNvGrpSpPr>
          <p:nvPr/>
        </p:nvGrpSpPr>
        <p:grpSpPr>
          <a:xfrm>
            <a:off x="7628054" y="11528499"/>
            <a:ext cx="713531" cy="713531"/>
            <a:chOff x="0" y="0"/>
            <a:chExt cx="6350000" cy="6350000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3902A129-E8DE-1D67-2A94-4CCBA52FB70D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59910D4-A84B-A0F0-14B0-18B0E31DB7E9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C5E0FF"/>
            </a:solidFill>
          </p:spPr>
        </p:sp>
      </p:grpSp>
      <p:sp>
        <p:nvSpPr>
          <p:cNvPr id="16" name="TextBox 10">
            <a:extLst>
              <a:ext uri="{FF2B5EF4-FFF2-40B4-BE49-F238E27FC236}">
                <a16:creationId xmlns:a16="http://schemas.microsoft.com/office/drawing/2014/main" id="{08C07777-1C7C-F9C6-32B8-5DF2A0F32C8B}"/>
              </a:ext>
            </a:extLst>
          </p:cNvPr>
          <p:cNvSpPr txBox="1"/>
          <p:nvPr/>
        </p:nvSpPr>
        <p:spPr>
          <a:xfrm>
            <a:off x="1553955" y="11394092"/>
            <a:ext cx="579905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Tính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năng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nổi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bật</a:t>
            </a:r>
            <a:endParaRPr lang="en-US" sz="5199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1F09A19B-2AAF-B10A-C815-4E06A3672595}"/>
              </a:ext>
            </a:extLst>
          </p:cNvPr>
          <p:cNvSpPr txBox="1"/>
          <p:nvPr/>
        </p:nvSpPr>
        <p:spPr>
          <a:xfrm>
            <a:off x="9470577" y="12609857"/>
            <a:ext cx="7627656" cy="5206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3"/>
              </a:lnSpc>
            </a:pPr>
            <a:endParaRPr/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Thiết kế UI/UX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Tạo Prototype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Cộng tác thời gian thực (Realtime Collaboration)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Comment và chia sẻ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Handoff cho Developer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342848"/>
            <a:ext cx="6430865" cy="6430865"/>
          </a:xfrm>
          <a:custGeom>
            <a:avLst/>
            <a:gdLst/>
            <a:ahLst/>
            <a:cxnLst/>
            <a:rect l="l" t="t" r="r" b="b"/>
            <a:pathLst>
              <a:path w="6430865" h="6430865">
                <a:moveTo>
                  <a:pt x="0" y="0"/>
                </a:moveTo>
                <a:lnTo>
                  <a:pt x="6430865" y="0"/>
                </a:lnTo>
                <a:lnTo>
                  <a:pt x="6430865" y="6430865"/>
                </a:lnTo>
                <a:lnTo>
                  <a:pt x="0" y="6430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833399">
            <a:off x="7566927" y="3701776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953947">
            <a:off x="865170" y="9007926"/>
            <a:ext cx="597091" cy="804902"/>
          </a:xfrm>
          <a:custGeom>
            <a:avLst/>
            <a:gdLst/>
            <a:ahLst/>
            <a:cxnLst/>
            <a:rect l="l" t="t" r="r" b="b"/>
            <a:pathLst>
              <a:path w="597091" h="804902">
                <a:moveTo>
                  <a:pt x="0" y="0"/>
                </a:moveTo>
                <a:lnTo>
                  <a:pt x="597091" y="0"/>
                </a:lnTo>
                <a:lnTo>
                  <a:pt x="597091" y="804902"/>
                </a:lnTo>
                <a:lnTo>
                  <a:pt x="0" y="80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102799" y="2260247"/>
            <a:ext cx="713531" cy="713531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C5E0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71978"/>
            <a:ext cx="1407204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2. FIGMA LÀ GÌ &amp; VAI TRÒ TRONG BA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125840"/>
            <a:ext cx="579905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Tính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năng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nổi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bật</a:t>
            </a:r>
            <a:endParaRPr lang="en-US" sz="5199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534400" y="2260247"/>
            <a:ext cx="7627656" cy="5206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3"/>
              </a:lnSpc>
            </a:pPr>
            <a:endParaRPr dirty="0"/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Thiết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kế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UI/UX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Tạo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Prototype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Cộng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tác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thời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gian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thực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(Realtime Collaboration)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Comment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và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chia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sẻ</a:t>
            </a:r>
            <a:endParaRPr lang="en-US" sz="33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Handoff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cho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Developer</a:t>
            </a:r>
          </a:p>
        </p:txBody>
      </p:sp>
      <p:sp>
        <p:nvSpPr>
          <p:cNvPr id="20" name="Freeform 2">
            <a:extLst>
              <a:ext uri="{FF2B5EF4-FFF2-40B4-BE49-F238E27FC236}">
                <a16:creationId xmlns:a16="http://schemas.microsoft.com/office/drawing/2014/main" id="{7DACA656-55D3-D9E9-D816-FB5C0725A521}"/>
              </a:ext>
            </a:extLst>
          </p:cNvPr>
          <p:cNvSpPr/>
          <p:nvPr/>
        </p:nvSpPr>
        <p:spPr>
          <a:xfrm>
            <a:off x="1028700" y="3342848"/>
            <a:ext cx="6430865" cy="6430865"/>
          </a:xfrm>
          <a:custGeom>
            <a:avLst/>
            <a:gdLst/>
            <a:ahLst/>
            <a:cxnLst/>
            <a:rect l="l" t="t" r="r" b="b"/>
            <a:pathLst>
              <a:path w="6430865" h="6430865">
                <a:moveTo>
                  <a:pt x="0" y="0"/>
                </a:moveTo>
                <a:lnTo>
                  <a:pt x="6430865" y="0"/>
                </a:lnTo>
                <a:lnTo>
                  <a:pt x="6430865" y="6430865"/>
                </a:lnTo>
                <a:lnTo>
                  <a:pt x="0" y="6430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2C2D897E-4342-56E2-D5AC-8B64A62C1902}"/>
              </a:ext>
            </a:extLst>
          </p:cNvPr>
          <p:cNvSpPr/>
          <p:nvPr/>
        </p:nvSpPr>
        <p:spPr>
          <a:xfrm rot="-1833399">
            <a:off x="7566927" y="3701776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4">
            <a:extLst>
              <a:ext uri="{FF2B5EF4-FFF2-40B4-BE49-F238E27FC236}">
                <a16:creationId xmlns:a16="http://schemas.microsoft.com/office/drawing/2014/main" id="{1CE8D892-5626-AECD-84FC-73B08D10242B}"/>
              </a:ext>
            </a:extLst>
          </p:cNvPr>
          <p:cNvSpPr/>
          <p:nvPr/>
        </p:nvSpPr>
        <p:spPr>
          <a:xfrm rot="8953947">
            <a:off x="865170" y="9007926"/>
            <a:ext cx="597091" cy="804902"/>
          </a:xfrm>
          <a:custGeom>
            <a:avLst/>
            <a:gdLst/>
            <a:ahLst/>
            <a:cxnLst/>
            <a:rect l="l" t="t" r="r" b="b"/>
            <a:pathLst>
              <a:path w="597091" h="804902">
                <a:moveTo>
                  <a:pt x="0" y="0"/>
                </a:moveTo>
                <a:lnTo>
                  <a:pt x="597091" y="0"/>
                </a:lnTo>
                <a:lnTo>
                  <a:pt x="597091" y="804902"/>
                </a:lnTo>
                <a:lnTo>
                  <a:pt x="0" y="80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5">
            <a:extLst>
              <a:ext uri="{FF2B5EF4-FFF2-40B4-BE49-F238E27FC236}">
                <a16:creationId xmlns:a16="http://schemas.microsoft.com/office/drawing/2014/main" id="{4B605335-DAC2-E14E-6BC5-3094D511D22B}"/>
              </a:ext>
            </a:extLst>
          </p:cNvPr>
          <p:cNvGrpSpPr>
            <a:grpSpLocks noChangeAspect="1"/>
          </p:cNvGrpSpPr>
          <p:nvPr/>
        </p:nvGrpSpPr>
        <p:grpSpPr>
          <a:xfrm>
            <a:off x="7102799" y="2260247"/>
            <a:ext cx="713531" cy="713531"/>
            <a:chOff x="0" y="0"/>
            <a:chExt cx="6350000" cy="6350000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1EEDF5E7-CC38-752D-B96C-344A1338F463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A348F077-F73F-1EEA-47FE-F76B25822E1C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C5E0FF"/>
            </a:solidFill>
          </p:spPr>
        </p:sp>
      </p:grpSp>
      <p:sp>
        <p:nvSpPr>
          <p:cNvPr id="26" name="TextBox 10">
            <a:extLst>
              <a:ext uri="{FF2B5EF4-FFF2-40B4-BE49-F238E27FC236}">
                <a16:creationId xmlns:a16="http://schemas.microsoft.com/office/drawing/2014/main" id="{08E01F6A-E9CF-F578-AC32-1050319CF04C}"/>
              </a:ext>
            </a:extLst>
          </p:cNvPr>
          <p:cNvSpPr txBox="1"/>
          <p:nvPr/>
        </p:nvSpPr>
        <p:spPr>
          <a:xfrm>
            <a:off x="1028700" y="2125840"/>
            <a:ext cx="579905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Tính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năng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nổi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bật</a:t>
            </a:r>
            <a:endParaRPr lang="en-US" sz="5199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33" name="Group 2">
            <a:extLst>
              <a:ext uri="{FF2B5EF4-FFF2-40B4-BE49-F238E27FC236}">
                <a16:creationId xmlns:a16="http://schemas.microsoft.com/office/drawing/2014/main" id="{7D815EBC-BDF5-8D97-DA21-0A8A6AFEEA4B}"/>
              </a:ext>
            </a:extLst>
          </p:cNvPr>
          <p:cNvGrpSpPr/>
          <p:nvPr/>
        </p:nvGrpSpPr>
        <p:grpSpPr>
          <a:xfrm>
            <a:off x="-9220200" y="3636278"/>
            <a:ext cx="8115300" cy="4617146"/>
            <a:chOff x="0" y="0"/>
            <a:chExt cx="940884" cy="535310"/>
          </a:xfrm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C03F2D9F-0580-00EA-CBF3-ECAD79E6A2A4}"/>
                </a:ext>
              </a:extLst>
            </p:cNvPr>
            <p:cNvSpPr/>
            <p:nvPr/>
          </p:nvSpPr>
          <p:spPr>
            <a:xfrm>
              <a:off x="0" y="0"/>
              <a:ext cx="940884" cy="535310"/>
            </a:xfrm>
            <a:custGeom>
              <a:avLst/>
              <a:gdLst/>
              <a:ahLst/>
              <a:cxnLst/>
              <a:rect l="l" t="t" r="r" b="b"/>
              <a:pathLst>
                <a:path w="940884" h="535310">
                  <a:moveTo>
                    <a:pt x="0" y="0"/>
                  </a:moveTo>
                  <a:lnTo>
                    <a:pt x="940884" y="0"/>
                  </a:lnTo>
                  <a:lnTo>
                    <a:pt x="940884" y="535310"/>
                  </a:lnTo>
                  <a:lnTo>
                    <a:pt x="0" y="535310"/>
                  </a:lnTo>
                  <a:close/>
                </a:path>
              </a:pathLst>
            </a:custGeom>
            <a:blipFill>
              <a:blip r:embed="rId6"/>
              <a:stretch>
                <a:fillRect t="-1411" b="-141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35" name="Freeform 5">
            <a:extLst>
              <a:ext uri="{FF2B5EF4-FFF2-40B4-BE49-F238E27FC236}">
                <a16:creationId xmlns:a16="http://schemas.microsoft.com/office/drawing/2014/main" id="{D46DE66A-D12A-4924-BDA6-34D9B539046E}"/>
              </a:ext>
            </a:extLst>
          </p:cNvPr>
          <p:cNvSpPr/>
          <p:nvPr/>
        </p:nvSpPr>
        <p:spPr>
          <a:xfrm>
            <a:off x="8645192" y="12464049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4"/>
                </a:lnTo>
                <a:lnTo>
                  <a:pt x="0" y="849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2C294D3C-CD08-B674-1F3F-2925FDCA55EC}"/>
              </a:ext>
            </a:extLst>
          </p:cNvPr>
          <p:cNvSpPr txBox="1"/>
          <p:nvPr/>
        </p:nvSpPr>
        <p:spPr>
          <a:xfrm>
            <a:off x="1028700" y="11196079"/>
            <a:ext cx="967077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Vai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trò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của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Figma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trong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BA</a:t>
            </a:r>
          </a:p>
        </p:txBody>
      </p:sp>
      <p:sp>
        <p:nvSpPr>
          <p:cNvPr id="37" name="TextBox 9">
            <a:extLst>
              <a:ext uri="{FF2B5EF4-FFF2-40B4-BE49-F238E27FC236}">
                <a16:creationId xmlns:a16="http://schemas.microsoft.com/office/drawing/2014/main" id="{FABF1D5B-F0A8-10B3-2D04-DD85611E8580}"/>
              </a:ext>
            </a:extLst>
          </p:cNvPr>
          <p:cNvSpPr txBox="1"/>
          <p:nvPr/>
        </p:nvSpPr>
        <p:spPr>
          <a:xfrm>
            <a:off x="9144000" y="12580909"/>
            <a:ext cx="8622804" cy="445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Chuyển yêu cầu nghiệp vụ → giao diện trực quan 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Là cầu nối giữa: 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BA ↔ Designer ↔ Developer 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Giảm hiểu lầm </a:t>
            </a:r>
          </a:p>
          <a:p>
            <a:pPr algn="l">
              <a:lnSpc>
                <a:spcPts val="5983"/>
              </a:lnSpc>
            </a:pPr>
            <a:endParaRPr lang="en-US" sz="3399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9296" y="3742608"/>
            <a:ext cx="8115300" cy="4617146"/>
            <a:chOff x="0" y="0"/>
            <a:chExt cx="940884" cy="535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0884" cy="535310"/>
            </a:xfrm>
            <a:custGeom>
              <a:avLst/>
              <a:gdLst/>
              <a:ahLst/>
              <a:cxnLst/>
              <a:rect l="l" t="t" r="r" b="b"/>
              <a:pathLst>
                <a:path w="940884" h="535310">
                  <a:moveTo>
                    <a:pt x="0" y="0"/>
                  </a:moveTo>
                  <a:lnTo>
                    <a:pt x="940884" y="0"/>
                  </a:lnTo>
                  <a:lnTo>
                    <a:pt x="940884" y="535310"/>
                  </a:lnTo>
                  <a:lnTo>
                    <a:pt x="0" y="535310"/>
                  </a:lnTo>
                  <a:close/>
                </a:path>
              </a:pathLst>
            </a:custGeom>
            <a:blipFill>
              <a:blip r:embed="rId2"/>
              <a:stretch>
                <a:fillRect t="-1411" b="-141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rot="678324">
            <a:off x="391878" y="7837500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645192" y="3444773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4"/>
                </a:lnTo>
                <a:lnTo>
                  <a:pt x="0" y="849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71978"/>
            <a:ext cx="1407204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2. FIGMA LÀ GÌ &amp; VAI TRÒ TRONG BA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176803"/>
            <a:ext cx="967077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Vai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trò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của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Figma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trong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BA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3561633"/>
            <a:ext cx="8622804" cy="445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Chuyển yêu cầu nghiệp vụ → giao diện trực quan 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Là cầu nối giữa: 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BA ↔ Designer ↔ Developer </a:t>
            </a:r>
          </a:p>
          <a:p>
            <a:pPr marL="734059" lvl="1" indent="-367030" algn="l">
              <a:lnSpc>
                <a:spcPts val="598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Giảm hiểu lầm </a:t>
            </a:r>
          </a:p>
          <a:p>
            <a:pPr algn="l">
              <a:lnSpc>
                <a:spcPts val="5983"/>
              </a:lnSpc>
            </a:pPr>
            <a:endParaRPr lang="en-US" sz="3399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8280FAFA-66C9-1E95-3C7A-E313A6635851}"/>
              </a:ext>
            </a:extLst>
          </p:cNvPr>
          <p:cNvGrpSpPr/>
          <p:nvPr/>
        </p:nvGrpSpPr>
        <p:grpSpPr>
          <a:xfrm>
            <a:off x="-10820400" y="2639915"/>
            <a:ext cx="8402439" cy="6942441"/>
            <a:chOff x="0" y="0"/>
            <a:chExt cx="983732" cy="812800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18BCD1CF-E017-776E-6FD4-D395846D2554}"/>
                </a:ext>
              </a:extLst>
            </p:cNvPr>
            <p:cNvSpPr/>
            <p:nvPr/>
          </p:nvSpPr>
          <p:spPr>
            <a:xfrm>
              <a:off x="0" y="0"/>
              <a:ext cx="983732" cy="812800"/>
            </a:xfrm>
            <a:custGeom>
              <a:avLst/>
              <a:gdLst/>
              <a:ahLst/>
              <a:cxnLst/>
              <a:rect l="l" t="t" r="r" b="b"/>
              <a:pathLst>
                <a:path w="983732" h="812800">
                  <a:moveTo>
                    <a:pt x="0" y="0"/>
                  </a:moveTo>
                  <a:lnTo>
                    <a:pt x="983732" y="0"/>
                  </a:lnTo>
                  <a:lnTo>
                    <a:pt x="98373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t="-10515" b="-10515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2" name="Freeform 4">
            <a:extLst>
              <a:ext uri="{FF2B5EF4-FFF2-40B4-BE49-F238E27FC236}">
                <a16:creationId xmlns:a16="http://schemas.microsoft.com/office/drawing/2014/main" id="{488E1D1C-FB3E-1397-D003-FA8B671E0830}"/>
              </a:ext>
            </a:extLst>
          </p:cNvPr>
          <p:cNvSpPr/>
          <p:nvPr/>
        </p:nvSpPr>
        <p:spPr>
          <a:xfrm>
            <a:off x="14267050" y="19223546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1AE3B7B7-53E9-6D4C-4851-0CAE65013864}"/>
              </a:ext>
            </a:extLst>
          </p:cNvPr>
          <p:cNvSpPr/>
          <p:nvPr/>
        </p:nvSpPr>
        <p:spPr>
          <a:xfrm>
            <a:off x="14982622" y="19223546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7562EF88-ECF1-79FF-B4DC-D96CD0C5CEE9}"/>
              </a:ext>
            </a:extLst>
          </p:cNvPr>
          <p:cNvSpPr/>
          <p:nvPr/>
        </p:nvSpPr>
        <p:spPr>
          <a:xfrm>
            <a:off x="15698194" y="19223546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6B0F1B7F-BBB8-1E4F-72C5-E380CAF0689E}"/>
              </a:ext>
            </a:extLst>
          </p:cNvPr>
          <p:cNvSpPr/>
          <p:nvPr/>
        </p:nvSpPr>
        <p:spPr>
          <a:xfrm rot="678324">
            <a:off x="-387418" y="13577046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96EFB68E-C764-3CC2-52E3-008EF2EBE885}"/>
              </a:ext>
            </a:extLst>
          </p:cNvPr>
          <p:cNvSpPr/>
          <p:nvPr/>
        </p:nvSpPr>
        <p:spPr>
          <a:xfrm>
            <a:off x="8153035" y="18301145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12AD8FBB-918C-7B6E-F642-6598E5576B4B}"/>
              </a:ext>
            </a:extLst>
          </p:cNvPr>
          <p:cNvSpPr txBox="1"/>
          <p:nvPr/>
        </p:nvSpPr>
        <p:spPr>
          <a:xfrm>
            <a:off x="15964397" y="-674964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BD834798-D386-C2C5-73F2-CE380A52293A}"/>
              </a:ext>
            </a:extLst>
          </p:cNvPr>
          <p:cNvSpPr txBox="1"/>
          <p:nvPr/>
        </p:nvSpPr>
        <p:spPr>
          <a:xfrm>
            <a:off x="19888200" y="2054763"/>
            <a:ext cx="781351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QUY TRÌNH: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F23CCABC-E8C8-44C4-0F21-3AE83FF141BD}"/>
              </a:ext>
            </a:extLst>
          </p:cNvPr>
          <p:cNvSpPr txBox="1"/>
          <p:nvPr/>
        </p:nvSpPr>
        <p:spPr>
          <a:xfrm>
            <a:off x="9050462" y="14164011"/>
            <a:ext cx="6335946" cy="6244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199"/>
              </a:lnSpc>
            </a:pPr>
            <a:r>
              <a:rPr lang="en-US" sz="3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1.Requirement (BA) </a:t>
            </a:r>
          </a:p>
          <a:p>
            <a:pPr algn="just">
              <a:lnSpc>
                <a:spcPts val="7199"/>
              </a:lnSpc>
            </a:pPr>
            <a:r>
              <a:rPr lang="en-US" sz="3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2.Wireframe (low fidelity) </a:t>
            </a:r>
          </a:p>
          <a:p>
            <a:pPr algn="just">
              <a:lnSpc>
                <a:spcPts val="7199"/>
              </a:lnSpc>
            </a:pPr>
            <a:r>
              <a:rPr lang="en-US" sz="3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3.Mockup (high fidelity) </a:t>
            </a:r>
          </a:p>
          <a:p>
            <a:pPr algn="just">
              <a:lnSpc>
                <a:spcPts val="7199"/>
              </a:lnSpc>
            </a:pPr>
            <a:r>
              <a:rPr lang="en-US" sz="3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4.Prototype (interactive) </a:t>
            </a:r>
          </a:p>
          <a:p>
            <a:pPr algn="just">
              <a:lnSpc>
                <a:spcPts val="7199"/>
              </a:lnSpc>
            </a:pPr>
            <a:r>
              <a:rPr lang="en-US" sz="3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5.Testing </a:t>
            </a:r>
          </a:p>
          <a:p>
            <a:pPr algn="just">
              <a:lnSpc>
                <a:spcPts val="7199"/>
              </a:lnSpc>
            </a:pPr>
            <a:r>
              <a:rPr lang="en-US" sz="3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6.Handoff cho Dev </a:t>
            </a:r>
          </a:p>
          <a:p>
            <a:pPr algn="just">
              <a:lnSpc>
                <a:spcPts val="7199"/>
              </a:lnSpc>
            </a:pPr>
            <a:endParaRPr lang="en-US" sz="35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EA38F32F-F992-E895-046A-DB60959F8FAC}"/>
              </a:ext>
            </a:extLst>
          </p:cNvPr>
          <p:cNvSpPr txBox="1"/>
          <p:nvPr/>
        </p:nvSpPr>
        <p:spPr>
          <a:xfrm>
            <a:off x="-13292753" y="921576"/>
            <a:ext cx="1407204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3. QUY TRÌNH THIẾT KẾ VỚI FIGMA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315859"/>
            <a:ext cx="8402439" cy="6942441"/>
            <a:chOff x="0" y="0"/>
            <a:chExt cx="983732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3732" cy="812800"/>
            </a:xfrm>
            <a:custGeom>
              <a:avLst/>
              <a:gdLst/>
              <a:ahLst/>
              <a:cxnLst/>
              <a:rect l="l" t="t" r="r" b="b"/>
              <a:pathLst>
                <a:path w="983732" h="812800">
                  <a:moveTo>
                    <a:pt x="0" y="0"/>
                  </a:moveTo>
                  <a:lnTo>
                    <a:pt x="983732" y="0"/>
                  </a:lnTo>
                  <a:lnTo>
                    <a:pt x="98373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10515" b="-10515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>
            <a:off x="15295750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011322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26894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78324">
            <a:off x="641282" y="3079394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81735" y="7803493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79162" y="2506359"/>
            <a:ext cx="781351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QUY TRÌNH: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79162" y="3666359"/>
            <a:ext cx="6335946" cy="6244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199"/>
              </a:lnSpc>
            </a:pPr>
            <a:r>
              <a:rPr lang="en-US" sz="3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1.Requirement (BA) </a:t>
            </a:r>
          </a:p>
          <a:p>
            <a:pPr algn="just">
              <a:lnSpc>
                <a:spcPts val="7199"/>
              </a:lnSpc>
            </a:pPr>
            <a:r>
              <a:rPr lang="en-US" sz="3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2.Wireframe (low fidelity) </a:t>
            </a:r>
          </a:p>
          <a:p>
            <a:pPr algn="just">
              <a:lnSpc>
                <a:spcPts val="7199"/>
              </a:lnSpc>
            </a:pPr>
            <a:r>
              <a:rPr lang="en-US" sz="3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3.Mockup (high fidelity) </a:t>
            </a:r>
          </a:p>
          <a:p>
            <a:pPr algn="just">
              <a:lnSpc>
                <a:spcPts val="7199"/>
              </a:lnSpc>
            </a:pPr>
            <a:r>
              <a:rPr lang="en-US" sz="3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4.Prototype (interactive) </a:t>
            </a:r>
          </a:p>
          <a:p>
            <a:pPr algn="just">
              <a:lnSpc>
                <a:spcPts val="7199"/>
              </a:lnSpc>
            </a:pPr>
            <a:r>
              <a:rPr lang="en-US" sz="3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5.Testing </a:t>
            </a:r>
          </a:p>
          <a:p>
            <a:pPr algn="just">
              <a:lnSpc>
                <a:spcPts val="7199"/>
              </a:lnSpc>
            </a:pPr>
            <a:r>
              <a:rPr lang="en-US" sz="3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6.Handoff cho Dev </a:t>
            </a:r>
          </a:p>
          <a:p>
            <a:pPr algn="just">
              <a:lnSpc>
                <a:spcPts val="7199"/>
              </a:lnSpc>
            </a:pPr>
            <a:endParaRPr lang="en-US" sz="35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671978"/>
            <a:ext cx="1407204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3. QUY TRÌNH THIẾT KẾ VỚI FIGMA</a:t>
            </a:r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5D294C9F-1DBC-9930-ACA5-7782B0DA8BBC}"/>
              </a:ext>
            </a:extLst>
          </p:cNvPr>
          <p:cNvGrpSpPr/>
          <p:nvPr/>
        </p:nvGrpSpPr>
        <p:grpSpPr>
          <a:xfrm>
            <a:off x="19507200" y="2705100"/>
            <a:ext cx="9907676" cy="6815987"/>
            <a:chOff x="0" y="0"/>
            <a:chExt cx="1181481" cy="81280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CACE3307-EDAD-308C-0081-F40F4B4DA104}"/>
                </a:ext>
              </a:extLst>
            </p:cNvPr>
            <p:cNvSpPr/>
            <p:nvPr/>
          </p:nvSpPr>
          <p:spPr>
            <a:xfrm>
              <a:off x="0" y="0"/>
              <a:ext cx="1181481" cy="812800"/>
            </a:xfrm>
            <a:custGeom>
              <a:avLst/>
              <a:gdLst/>
              <a:ahLst/>
              <a:cxnLst/>
              <a:rect l="l" t="t" r="r" b="b"/>
              <a:pathLst>
                <a:path w="1181481" h="812800">
                  <a:moveTo>
                    <a:pt x="0" y="0"/>
                  </a:moveTo>
                  <a:lnTo>
                    <a:pt x="1181481" y="0"/>
                  </a:lnTo>
                  <a:lnTo>
                    <a:pt x="118148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1148" r="-1148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5" name="Freeform 4">
            <a:extLst>
              <a:ext uri="{FF2B5EF4-FFF2-40B4-BE49-F238E27FC236}">
                <a16:creationId xmlns:a16="http://schemas.microsoft.com/office/drawing/2014/main" id="{C2C475D1-2E3B-25C9-1671-2B84703E8190}"/>
              </a:ext>
            </a:extLst>
          </p:cNvPr>
          <p:cNvSpPr/>
          <p:nvPr/>
        </p:nvSpPr>
        <p:spPr>
          <a:xfrm>
            <a:off x="791368" y="19369616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CAA3114-25DB-3185-C0F7-D54FFBA7D2F5}"/>
              </a:ext>
            </a:extLst>
          </p:cNvPr>
          <p:cNvSpPr/>
          <p:nvPr/>
        </p:nvSpPr>
        <p:spPr>
          <a:xfrm>
            <a:off x="1506940" y="19369616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BB5223E1-A4E1-DDC5-81D0-B6DE5FAF33A7}"/>
              </a:ext>
            </a:extLst>
          </p:cNvPr>
          <p:cNvSpPr/>
          <p:nvPr/>
        </p:nvSpPr>
        <p:spPr>
          <a:xfrm>
            <a:off x="2222512" y="19369616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941E7456-24CC-F528-0EDC-6EBE1C0DCE5E}"/>
              </a:ext>
            </a:extLst>
          </p:cNvPr>
          <p:cNvSpPr/>
          <p:nvPr/>
        </p:nvSpPr>
        <p:spPr>
          <a:xfrm rot="678324">
            <a:off x="7267545" y="19379767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DA51BB5A-396F-DE54-AD4E-9BB2D272ED6F}"/>
              </a:ext>
            </a:extLst>
          </p:cNvPr>
          <p:cNvSpPr/>
          <p:nvPr/>
        </p:nvSpPr>
        <p:spPr>
          <a:xfrm>
            <a:off x="17360914" y="12612525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B1F98BF2-BEAC-C6DC-F551-31BA95965404}"/>
              </a:ext>
            </a:extLst>
          </p:cNvPr>
          <p:cNvSpPr txBox="1"/>
          <p:nvPr/>
        </p:nvSpPr>
        <p:spPr>
          <a:xfrm>
            <a:off x="19126200" y="1953188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A28626D1-3E08-0ACD-650F-310074EC2B04}"/>
              </a:ext>
            </a:extLst>
          </p:cNvPr>
          <p:cNvSpPr txBox="1"/>
          <p:nvPr/>
        </p:nvSpPr>
        <p:spPr>
          <a:xfrm>
            <a:off x="371747" y="13385688"/>
            <a:ext cx="6800932" cy="602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Bản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vẽ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khung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đen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trắng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</a:p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Không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focus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vào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màu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sắc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Chỉ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thể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hiện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Layout 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Luồng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chức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năng</a:t>
            </a:r>
            <a:endParaRPr lang="en-US" sz="339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Focus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vào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Layout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Chức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năng</a:t>
            </a:r>
            <a:endParaRPr lang="en-US" sz="339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Luồng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người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dùng</a:t>
            </a:r>
            <a:endParaRPr lang="en-US" sz="339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5039"/>
              </a:lnSpc>
            </a:pPr>
            <a:endParaRPr lang="en-US" sz="339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2F4CF394-BD17-08CF-8B3A-86162DB95C07}"/>
              </a:ext>
            </a:extLst>
          </p:cNvPr>
          <p:cNvSpPr txBox="1"/>
          <p:nvPr/>
        </p:nvSpPr>
        <p:spPr>
          <a:xfrm>
            <a:off x="-9753600" y="1820705"/>
            <a:ext cx="1407204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4. WIREFRAME LÀ GÌ 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39974" y="2393485"/>
            <a:ext cx="9907676" cy="6815987"/>
            <a:chOff x="0" y="0"/>
            <a:chExt cx="118148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1481" cy="812800"/>
            </a:xfrm>
            <a:custGeom>
              <a:avLst/>
              <a:gdLst/>
              <a:ahLst/>
              <a:cxnLst/>
              <a:rect l="l" t="t" r="r" b="b"/>
              <a:pathLst>
                <a:path w="1181481" h="812800">
                  <a:moveTo>
                    <a:pt x="0" y="0"/>
                  </a:moveTo>
                  <a:lnTo>
                    <a:pt x="1181481" y="0"/>
                  </a:lnTo>
                  <a:lnTo>
                    <a:pt x="118148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148" r="-1148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>
            <a:off x="1028700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44272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459844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78324">
            <a:off x="7504877" y="8736045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598246" y="1968803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9079" y="2741966"/>
            <a:ext cx="6800932" cy="602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Bản vẽ khung (đen trắng) </a:t>
            </a:r>
          </a:p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Không focus vào màu sắc </a:t>
            </a:r>
          </a:p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Chỉ thể hiện: 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Layout 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Luồng chức năng</a:t>
            </a:r>
          </a:p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Focus vào: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Layout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Chức năng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Luồng người dùng</a:t>
            </a:r>
          </a:p>
          <a:p>
            <a:pPr algn="l">
              <a:lnSpc>
                <a:spcPts val="5039"/>
              </a:lnSpc>
            </a:pPr>
            <a:endParaRPr lang="en-US" sz="33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671978"/>
            <a:ext cx="1407204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4. WIREFRAME LÀ GÌ ?</a:t>
            </a: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184AF17A-2AEF-0679-09BF-123D8DDC09B5}"/>
              </a:ext>
            </a:extLst>
          </p:cNvPr>
          <p:cNvSpPr/>
          <p:nvPr/>
        </p:nvSpPr>
        <p:spPr>
          <a:xfrm>
            <a:off x="0" y="19522016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1B5D21EE-B9AC-DEFC-9086-9265AC453548}"/>
              </a:ext>
            </a:extLst>
          </p:cNvPr>
          <p:cNvSpPr/>
          <p:nvPr/>
        </p:nvSpPr>
        <p:spPr>
          <a:xfrm>
            <a:off x="715572" y="19522016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0771CA94-2019-8FEF-6CDF-96E848FCEF17}"/>
              </a:ext>
            </a:extLst>
          </p:cNvPr>
          <p:cNvSpPr/>
          <p:nvPr/>
        </p:nvSpPr>
        <p:spPr>
          <a:xfrm>
            <a:off x="1431144" y="19522016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4DA86CAC-7129-6250-4858-51E5EC98193C}"/>
              </a:ext>
            </a:extLst>
          </p:cNvPr>
          <p:cNvSpPr txBox="1"/>
          <p:nvPr/>
        </p:nvSpPr>
        <p:spPr>
          <a:xfrm>
            <a:off x="19583400" y="1172197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C8A0DF3-6BBC-7892-F6F8-0A0790EE4102}"/>
              </a:ext>
            </a:extLst>
          </p:cNvPr>
          <p:cNvSpPr txBox="1"/>
          <p:nvPr/>
        </p:nvSpPr>
        <p:spPr>
          <a:xfrm>
            <a:off x="-419621" y="13538088"/>
            <a:ext cx="6800932" cy="4826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Mockup: Thiết kế giao diện gần giống sản phẩm thật</a:t>
            </a:r>
          </a:p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Đặc điểm: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Có màu sắc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Có font chữ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Có icon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Không tương tác</a:t>
            </a:r>
          </a:p>
          <a:p>
            <a:pPr algn="l">
              <a:lnSpc>
                <a:spcPts val="5039"/>
              </a:lnSpc>
            </a:pPr>
            <a:endParaRPr lang="en-US" sz="33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CF4DAAC5-453A-89B1-2AE1-362077CD7D5B}"/>
              </a:ext>
            </a:extLst>
          </p:cNvPr>
          <p:cNvSpPr txBox="1"/>
          <p:nvPr/>
        </p:nvSpPr>
        <p:spPr>
          <a:xfrm>
            <a:off x="-9372600" y="943803"/>
            <a:ext cx="1407204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5. MOCKUP LÀ GÌ ?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DAB377BB-D127-56C7-993E-435AACCAFA6B}"/>
              </a:ext>
            </a:extLst>
          </p:cNvPr>
          <p:cNvGrpSpPr/>
          <p:nvPr/>
        </p:nvGrpSpPr>
        <p:grpSpPr>
          <a:xfrm>
            <a:off x="19202400" y="3030384"/>
            <a:ext cx="9907676" cy="6815987"/>
            <a:chOff x="0" y="0"/>
            <a:chExt cx="1181481" cy="812800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335E46C8-9D3D-9E15-4BEA-35BBDB75D1AE}"/>
                </a:ext>
              </a:extLst>
            </p:cNvPr>
            <p:cNvSpPr/>
            <p:nvPr/>
          </p:nvSpPr>
          <p:spPr>
            <a:xfrm>
              <a:off x="0" y="0"/>
              <a:ext cx="1181481" cy="812800"/>
            </a:xfrm>
            <a:custGeom>
              <a:avLst/>
              <a:gdLst/>
              <a:ahLst/>
              <a:cxnLst/>
              <a:rect l="l" t="t" r="r" b="b"/>
              <a:pathLst>
                <a:path w="1181481" h="812800">
                  <a:moveTo>
                    <a:pt x="0" y="0"/>
                  </a:moveTo>
                  <a:lnTo>
                    <a:pt x="1181481" y="0"/>
                  </a:lnTo>
                  <a:lnTo>
                    <a:pt x="118148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11151" r="-1115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24" name="Freeform 7">
            <a:extLst>
              <a:ext uri="{FF2B5EF4-FFF2-40B4-BE49-F238E27FC236}">
                <a16:creationId xmlns:a16="http://schemas.microsoft.com/office/drawing/2014/main" id="{D3EDD93D-39A4-BC95-8E03-50537CF02F69}"/>
              </a:ext>
            </a:extLst>
          </p:cNvPr>
          <p:cNvSpPr/>
          <p:nvPr/>
        </p:nvSpPr>
        <p:spPr>
          <a:xfrm rot="678324">
            <a:off x="10339342" y="18390067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8">
            <a:extLst>
              <a:ext uri="{FF2B5EF4-FFF2-40B4-BE49-F238E27FC236}">
                <a16:creationId xmlns:a16="http://schemas.microsoft.com/office/drawing/2014/main" id="{6D875342-4699-745B-B934-647EE474F05E}"/>
              </a:ext>
            </a:extLst>
          </p:cNvPr>
          <p:cNvSpPr/>
          <p:nvPr/>
        </p:nvSpPr>
        <p:spPr>
          <a:xfrm>
            <a:off x="20432711" y="11622825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39974" y="2393485"/>
            <a:ext cx="9907676" cy="6815987"/>
            <a:chOff x="0" y="0"/>
            <a:chExt cx="118148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1481" cy="812800"/>
            </a:xfrm>
            <a:custGeom>
              <a:avLst/>
              <a:gdLst/>
              <a:ahLst/>
              <a:cxnLst/>
              <a:rect l="l" t="t" r="r" b="b"/>
              <a:pathLst>
                <a:path w="1181481" h="812800">
                  <a:moveTo>
                    <a:pt x="0" y="0"/>
                  </a:moveTo>
                  <a:lnTo>
                    <a:pt x="1181481" y="0"/>
                  </a:lnTo>
                  <a:lnTo>
                    <a:pt x="118148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1151" r="-1115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>
            <a:off x="1028700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44272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459844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78324">
            <a:off x="7504877" y="8736045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598246" y="1968803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9079" y="2741966"/>
            <a:ext cx="6800932" cy="4826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Mockup: Thiết kế giao diện gần giống sản phẩm thật</a:t>
            </a:r>
          </a:p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Đặc điểm: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Có màu sắc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Có font chữ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Có icon</a:t>
            </a:r>
          </a:p>
          <a:p>
            <a:pPr marL="1468103" lvl="2" indent="-489368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Không tương tác</a:t>
            </a:r>
          </a:p>
          <a:p>
            <a:pPr algn="l">
              <a:lnSpc>
                <a:spcPts val="5039"/>
              </a:lnSpc>
            </a:pPr>
            <a:endParaRPr lang="en-US" sz="33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671978"/>
            <a:ext cx="1407204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5. MOCKUP LÀ GÌ ?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3552628F-CA4A-CB10-A693-42091B16CB1A}"/>
              </a:ext>
            </a:extLst>
          </p:cNvPr>
          <p:cNvGrpSpPr/>
          <p:nvPr/>
        </p:nvGrpSpPr>
        <p:grpSpPr>
          <a:xfrm>
            <a:off x="-64210" y="12603172"/>
            <a:ext cx="8288622" cy="7034368"/>
            <a:chOff x="0" y="0"/>
            <a:chExt cx="1181481" cy="1002697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BF6D25A2-140D-6E7D-FBB8-AE2C2A09182C}"/>
                </a:ext>
              </a:extLst>
            </p:cNvPr>
            <p:cNvSpPr/>
            <p:nvPr/>
          </p:nvSpPr>
          <p:spPr>
            <a:xfrm>
              <a:off x="0" y="0"/>
              <a:ext cx="1181481" cy="1002697"/>
            </a:xfrm>
            <a:custGeom>
              <a:avLst/>
              <a:gdLst/>
              <a:ahLst/>
              <a:cxnLst/>
              <a:rect l="l" t="t" r="r" b="b"/>
              <a:pathLst>
                <a:path w="1181481" h="1002697">
                  <a:moveTo>
                    <a:pt x="0" y="0"/>
                  </a:moveTo>
                  <a:lnTo>
                    <a:pt x="1181481" y="0"/>
                  </a:lnTo>
                  <a:lnTo>
                    <a:pt x="1181481" y="1002697"/>
                  </a:lnTo>
                  <a:lnTo>
                    <a:pt x="0" y="1002697"/>
                  </a:lnTo>
                  <a:close/>
                </a:path>
              </a:pathLst>
            </a:custGeom>
            <a:blipFill>
              <a:blip r:embed="rId6"/>
              <a:stretch>
                <a:fillRect l="-11722" r="-117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4" name="TextBox 4">
            <a:extLst>
              <a:ext uri="{FF2B5EF4-FFF2-40B4-BE49-F238E27FC236}">
                <a16:creationId xmlns:a16="http://schemas.microsoft.com/office/drawing/2014/main" id="{793AD05B-5BF1-C593-2316-A8DCE43122B9}"/>
              </a:ext>
            </a:extLst>
          </p:cNvPr>
          <p:cNvSpPr txBox="1"/>
          <p:nvPr/>
        </p:nvSpPr>
        <p:spPr>
          <a:xfrm>
            <a:off x="19202400" y="1525418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13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5B2611DC-03A9-22DF-7889-7245C6DB4377}"/>
              </a:ext>
            </a:extLst>
          </p:cNvPr>
          <p:cNvSpPr txBox="1"/>
          <p:nvPr/>
        </p:nvSpPr>
        <p:spPr>
          <a:xfrm>
            <a:off x="-9220200" y="1250942"/>
            <a:ext cx="1596210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6. PROTOTYPE LÀ GÌ ?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29AA0209-C4EB-0201-DE2E-5D490CBD321E}"/>
              </a:ext>
            </a:extLst>
          </p:cNvPr>
          <p:cNvSpPr txBox="1"/>
          <p:nvPr/>
        </p:nvSpPr>
        <p:spPr>
          <a:xfrm>
            <a:off x="8828712" y="12536497"/>
            <a:ext cx="7697688" cy="7781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Prototype: Giao diện có thể click được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Đặc điểm: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Có tương tác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Có navigation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Có flow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Mục đích: Mô phỏng hành vi hệ thống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Dùng để: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Làm rõ yêu cầu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Giảm thiểu hiểu lầm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Xác nhận giải pháp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Giao tiếp với các bên liên quan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Giảm thiểu rủi ro dự án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176369C2-2756-7211-40A3-1C2D39CBCA26}"/>
              </a:ext>
            </a:extLst>
          </p:cNvPr>
          <p:cNvSpPr/>
          <p:nvPr/>
        </p:nvSpPr>
        <p:spPr>
          <a:xfrm rot="678324">
            <a:off x="-218214" y="19066840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DCF352DD-43BE-694B-C962-105E21A59F39}"/>
              </a:ext>
            </a:extLst>
          </p:cNvPr>
          <p:cNvSpPr/>
          <p:nvPr/>
        </p:nvSpPr>
        <p:spPr>
          <a:xfrm>
            <a:off x="8051090" y="12221973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272377"/>
            <a:ext cx="8288622" cy="7034368"/>
            <a:chOff x="0" y="0"/>
            <a:chExt cx="1181481" cy="10026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1481" cy="1002697"/>
            </a:xfrm>
            <a:custGeom>
              <a:avLst/>
              <a:gdLst/>
              <a:ahLst/>
              <a:cxnLst/>
              <a:rect l="l" t="t" r="r" b="b"/>
              <a:pathLst>
                <a:path w="1181481" h="1002697">
                  <a:moveTo>
                    <a:pt x="0" y="0"/>
                  </a:moveTo>
                  <a:lnTo>
                    <a:pt x="1181481" y="0"/>
                  </a:lnTo>
                  <a:lnTo>
                    <a:pt x="1181481" y="1002697"/>
                  </a:lnTo>
                  <a:lnTo>
                    <a:pt x="0" y="1002697"/>
                  </a:lnTo>
                  <a:close/>
                </a:path>
              </a:pathLst>
            </a:custGeom>
            <a:blipFill>
              <a:blip r:embed="rId2"/>
              <a:stretch>
                <a:fillRect l="-11722" r="-117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71978"/>
            <a:ext cx="1596210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6. PROTOTYPE LÀ GÌ 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21622" y="2205702"/>
            <a:ext cx="7697688" cy="7781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Prototype: Giao diện có thể click được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Đặc điểm: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Có tương tác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Có navigation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Có flow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Mục đích: Mô phỏng hành vi hệ thống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Dùng để: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Làm rõ yêu cầu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Giảm thiểu hiểu lầm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Xác nhận giải pháp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Giao tiếp với các bên liên quan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Giảm thiểu rủi ro dự án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" name="Freeform 7"/>
          <p:cNvSpPr/>
          <p:nvPr/>
        </p:nvSpPr>
        <p:spPr>
          <a:xfrm rot="678324">
            <a:off x="874696" y="8736045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1891178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1967AD76-8EC5-D3A1-9649-0956D4F897F4}"/>
              </a:ext>
            </a:extLst>
          </p:cNvPr>
          <p:cNvGrpSpPr/>
          <p:nvPr/>
        </p:nvGrpSpPr>
        <p:grpSpPr>
          <a:xfrm>
            <a:off x="-9483514" y="4098189"/>
            <a:ext cx="6629813" cy="5905571"/>
            <a:chOff x="0" y="0"/>
            <a:chExt cx="1087502" cy="96870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71B52284-EB00-54D9-1D8A-F90BED21303A}"/>
                </a:ext>
              </a:extLst>
            </p:cNvPr>
            <p:cNvSpPr/>
            <p:nvPr/>
          </p:nvSpPr>
          <p:spPr>
            <a:xfrm>
              <a:off x="0" y="0"/>
              <a:ext cx="1087502" cy="968703"/>
            </a:xfrm>
            <a:custGeom>
              <a:avLst/>
              <a:gdLst/>
              <a:ahLst/>
              <a:cxnLst/>
              <a:rect l="l" t="t" r="r" b="b"/>
              <a:pathLst>
                <a:path w="1087502" h="968703">
                  <a:moveTo>
                    <a:pt x="0" y="0"/>
                  </a:moveTo>
                  <a:lnTo>
                    <a:pt x="1087502" y="0"/>
                  </a:lnTo>
                  <a:lnTo>
                    <a:pt x="1087502" y="968703"/>
                  </a:lnTo>
                  <a:lnTo>
                    <a:pt x="0" y="968703"/>
                  </a:lnTo>
                  <a:close/>
                </a:path>
              </a:pathLst>
            </a:custGeom>
            <a:blipFill>
              <a:blip r:embed="rId5"/>
              <a:stretch>
                <a:fillRect l="-17738" r="-17738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1" name="Freeform 4">
            <a:extLst>
              <a:ext uri="{FF2B5EF4-FFF2-40B4-BE49-F238E27FC236}">
                <a16:creationId xmlns:a16="http://schemas.microsoft.com/office/drawing/2014/main" id="{7A48F073-745E-BADA-C4E8-33910A00DCF4}"/>
              </a:ext>
            </a:extLst>
          </p:cNvPr>
          <p:cNvSpPr/>
          <p:nvPr/>
        </p:nvSpPr>
        <p:spPr>
          <a:xfrm rot="678324">
            <a:off x="-3109814" y="18004783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5C1BF006-3D22-B65A-6214-9444F4BC803A}"/>
              </a:ext>
            </a:extLst>
          </p:cNvPr>
          <p:cNvSpPr/>
          <p:nvPr/>
        </p:nvSpPr>
        <p:spPr>
          <a:xfrm>
            <a:off x="3658013" y="12196785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6">
            <a:extLst>
              <a:ext uri="{FF2B5EF4-FFF2-40B4-BE49-F238E27FC236}">
                <a16:creationId xmlns:a16="http://schemas.microsoft.com/office/drawing/2014/main" id="{F3E879A1-97FB-73F9-0295-AF3040685153}"/>
              </a:ext>
            </a:extLst>
          </p:cNvPr>
          <p:cNvGrpSpPr/>
          <p:nvPr/>
        </p:nvGrpSpPr>
        <p:grpSpPr>
          <a:xfrm>
            <a:off x="19400093" y="4915847"/>
            <a:ext cx="8729563" cy="4534965"/>
            <a:chOff x="0" y="0"/>
            <a:chExt cx="2242284" cy="1164855"/>
          </a:xfrm>
        </p:grpSpPr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2C5B762-6B90-0CD7-FEF3-2889B5B7F7DF}"/>
                </a:ext>
              </a:extLst>
            </p:cNvPr>
            <p:cNvSpPr/>
            <p:nvPr/>
          </p:nvSpPr>
          <p:spPr>
            <a:xfrm>
              <a:off x="0" y="0"/>
              <a:ext cx="2242284" cy="1164855"/>
            </a:xfrm>
            <a:custGeom>
              <a:avLst/>
              <a:gdLst/>
              <a:ahLst/>
              <a:cxnLst/>
              <a:rect l="l" t="t" r="r" b="b"/>
              <a:pathLst>
                <a:path w="2242284" h="1164855">
                  <a:moveTo>
                    <a:pt x="0" y="0"/>
                  </a:moveTo>
                  <a:lnTo>
                    <a:pt x="2242284" y="0"/>
                  </a:lnTo>
                  <a:lnTo>
                    <a:pt x="2242284" y="1164855"/>
                  </a:lnTo>
                  <a:lnTo>
                    <a:pt x="0" y="1164855"/>
                  </a:lnTo>
                  <a:close/>
                </a:path>
              </a:pathLst>
            </a:custGeom>
            <a:blipFill>
              <a:blip r:embed="rId2"/>
              <a:stretch>
                <a:fillRect t="-16170" b="-1617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5" name="TextBox 10">
            <a:extLst>
              <a:ext uri="{FF2B5EF4-FFF2-40B4-BE49-F238E27FC236}">
                <a16:creationId xmlns:a16="http://schemas.microsoft.com/office/drawing/2014/main" id="{955655BF-BB7C-B80E-0AAF-ED8ACFB3A88D}"/>
              </a:ext>
            </a:extLst>
          </p:cNvPr>
          <p:cNvSpPr txBox="1"/>
          <p:nvPr/>
        </p:nvSpPr>
        <p:spPr>
          <a:xfrm>
            <a:off x="-6629813" y="1181460"/>
            <a:ext cx="662981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Các </a:t>
            </a:r>
            <a:r>
              <a:rPr lang="en-US" sz="5199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loại</a:t>
            </a:r>
            <a:r>
              <a:rPr lang="en-US" sz="51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Prototype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1BBD5104-C755-9A7E-A92C-67413B835C5E}"/>
              </a:ext>
            </a:extLst>
          </p:cNvPr>
          <p:cNvSpPr txBox="1"/>
          <p:nvPr/>
        </p:nvSpPr>
        <p:spPr>
          <a:xfrm>
            <a:off x="19126200" y="2182018"/>
            <a:ext cx="9277350" cy="1842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7675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Low-fidelity prototype (từ wireframe) </a:t>
            </a:r>
          </a:p>
          <a:p>
            <a:pPr marL="820417" lvl="1" indent="-410209" algn="l">
              <a:lnSpc>
                <a:spcPts val="7675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High-fidelity prototype (từ mockup) </a:t>
            </a:r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1D2F730-C4C0-7E47-BEA3-52D871E15AF3}"/>
              </a:ext>
            </a:extLst>
          </p:cNvPr>
          <p:cNvSpPr/>
          <p:nvPr/>
        </p:nvSpPr>
        <p:spPr>
          <a:xfrm rot="678324">
            <a:off x="4353332" y="18004783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7" y="0"/>
                </a:lnTo>
                <a:lnTo>
                  <a:pt x="774837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8104" y="3514226"/>
            <a:ext cx="6629813" cy="5905571"/>
            <a:chOff x="0" y="0"/>
            <a:chExt cx="1087502" cy="9687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7502" cy="968703"/>
            </a:xfrm>
            <a:custGeom>
              <a:avLst/>
              <a:gdLst/>
              <a:ahLst/>
              <a:cxnLst/>
              <a:rect l="l" t="t" r="r" b="b"/>
              <a:pathLst>
                <a:path w="1087502" h="968703">
                  <a:moveTo>
                    <a:pt x="0" y="0"/>
                  </a:moveTo>
                  <a:lnTo>
                    <a:pt x="1087502" y="0"/>
                  </a:lnTo>
                  <a:lnTo>
                    <a:pt x="1087502" y="968703"/>
                  </a:lnTo>
                  <a:lnTo>
                    <a:pt x="0" y="968703"/>
                  </a:lnTo>
                  <a:close/>
                </a:path>
              </a:pathLst>
            </a:custGeom>
            <a:blipFill>
              <a:blip r:embed="rId3"/>
              <a:stretch>
                <a:fillRect l="-17738" r="-17738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rot="678324">
            <a:off x="890686" y="8897542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658513" y="3089544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741251" y="4884832"/>
            <a:ext cx="8729563" cy="4534965"/>
            <a:chOff x="0" y="0"/>
            <a:chExt cx="2242284" cy="11648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42284" cy="1164855"/>
            </a:xfrm>
            <a:custGeom>
              <a:avLst/>
              <a:gdLst/>
              <a:ahLst/>
              <a:cxnLst/>
              <a:rect l="l" t="t" r="r" b="b"/>
              <a:pathLst>
                <a:path w="2242284" h="1164855">
                  <a:moveTo>
                    <a:pt x="0" y="0"/>
                  </a:moveTo>
                  <a:lnTo>
                    <a:pt x="2242284" y="0"/>
                  </a:lnTo>
                  <a:lnTo>
                    <a:pt x="2242284" y="1164855"/>
                  </a:lnTo>
                  <a:lnTo>
                    <a:pt x="0" y="1164855"/>
                  </a:lnTo>
                  <a:close/>
                </a:path>
              </a:pathLst>
            </a:custGeom>
            <a:blipFill>
              <a:blip r:embed="rId6"/>
              <a:stretch>
                <a:fillRect t="-16170" b="-1617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71978"/>
            <a:ext cx="1596210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6. PROTOTYPE LÀ GÌ 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132259"/>
            <a:ext cx="662981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Các loại Prototype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18907" y="2445266"/>
            <a:ext cx="9277350" cy="1842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7675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Low-fidelity prototype (từ wireframe) </a:t>
            </a:r>
          </a:p>
          <a:p>
            <a:pPr marL="820417" lvl="1" indent="-410209" algn="l">
              <a:lnSpc>
                <a:spcPts val="7675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High-fidelity prototype (từ mockup) </a:t>
            </a:r>
          </a:p>
        </p:txBody>
      </p:sp>
      <p:sp>
        <p:nvSpPr>
          <p:cNvPr id="12" name="Freeform 12"/>
          <p:cNvSpPr/>
          <p:nvPr/>
        </p:nvSpPr>
        <p:spPr>
          <a:xfrm rot="678324">
            <a:off x="8353832" y="8897542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7" y="0"/>
                </a:lnTo>
                <a:lnTo>
                  <a:pt x="774837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DE89E23A-13A7-A859-A43C-DD59E8AF4CC9}"/>
              </a:ext>
            </a:extLst>
          </p:cNvPr>
          <p:cNvSpPr/>
          <p:nvPr/>
        </p:nvSpPr>
        <p:spPr>
          <a:xfrm rot="678324">
            <a:off x="101043" y="20803527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9C3152DB-9C03-11FE-49EC-8BC93936C8D4}"/>
              </a:ext>
            </a:extLst>
          </p:cNvPr>
          <p:cNvSpPr/>
          <p:nvPr/>
        </p:nvSpPr>
        <p:spPr>
          <a:xfrm rot="-1666456">
            <a:off x="16349594" y="13503210"/>
            <a:ext cx="379990" cy="647042"/>
          </a:xfrm>
          <a:custGeom>
            <a:avLst/>
            <a:gdLst/>
            <a:ahLst/>
            <a:cxnLst/>
            <a:rect l="l" t="t" r="r" b="b"/>
            <a:pathLst>
              <a:path w="379990" h="647042">
                <a:moveTo>
                  <a:pt x="0" y="0"/>
                </a:moveTo>
                <a:lnTo>
                  <a:pt x="379990" y="0"/>
                </a:lnTo>
                <a:lnTo>
                  <a:pt x="379990" y="647041"/>
                </a:lnTo>
                <a:lnTo>
                  <a:pt x="0" y="647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058F0C6D-DFC7-BB1B-8028-B92F024AFDE2}"/>
              </a:ext>
            </a:extLst>
          </p:cNvPr>
          <p:cNvSpPr txBox="1"/>
          <p:nvPr/>
        </p:nvSpPr>
        <p:spPr>
          <a:xfrm>
            <a:off x="19354800" y="489098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15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7B774A3-A058-E077-CDB5-73510BF5E00A}"/>
              </a:ext>
            </a:extLst>
          </p:cNvPr>
          <p:cNvSpPr txBox="1"/>
          <p:nvPr/>
        </p:nvSpPr>
        <p:spPr>
          <a:xfrm>
            <a:off x="-14401800" y="452437"/>
            <a:ext cx="1468198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9"/>
              </a:lnSpc>
            </a:pPr>
            <a:r>
              <a:rPr lang="en-US" sz="693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 SÁNH WIREFRAME, MOCKUP, PROTOTYPE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D6D4F3E-AEEC-C212-BDF6-9FE4E310A1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48424" y="4287910"/>
            <a:ext cx="3999570" cy="1993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8324">
            <a:off x="569861" y="9129428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66456">
            <a:off x="16818412" y="1829111"/>
            <a:ext cx="379990" cy="647042"/>
          </a:xfrm>
          <a:custGeom>
            <a:avLst/>
            <a:gdLst/>
            <a:ahLst/>
            <a:cxnLst/>
            <a:rect l="l" t="t" r="r" b="b"/>
            <a:pathLst>
              <a:path w="379990" h="647042">
                <a:moveTo>
                  <a:pt x="0" y="0"/>
                </a:moveTo>
                <a:lnTo>
                  <a:pt x="379990" y="0"/>
                </a:lnTo>
                <a:lnTo>
                  <a:pt x="379990" y="647041"/>
                </a:lnTo>
                <a:lnTo>
                  <a:pt x="0" y="647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6417" y="635317"/>
            <a:ext cx="1468198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9"/>
              </a:lnSpc>
            </a:pPr>
            <a:r>
              <a:rPr lang="en-US" sz="693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 SÁNH WIREFRAME, MOCKUP, PROTOTYPE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B5CC62-4957-D938-2438-2B7E5227C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15" y="2123604"/>
            <a:ext cx="15200970" cy="7576356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9A8436C4-919F-22D8-22D5-7840A7CB04E6}"/>
              </a:ext>
            </a:extLst>
          </p:cNvPr>
          <p:cNvSpPr txBox="1"/>
          <p:nvPr/>
        </p:nvSpPr>
        <p:spPr>
          <a:xfrm>
            <a:off x="15665330" y="-1257300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16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929BD418-51F3-DFE5-895C-C8322E68D266}"/>
              </a:ext>
            </a:extLst>
          </p:cNvPr>
          <p:cNvSpPr txBox="1"/>
          <p:nvPr/>
        </p:nvSpPr>
        <p:spPr>
          <a:xfrm>
            <a:off x="-14922168" y="700546"/>
            <a:ext cx="1596210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7. ƯU ĐIỂM &amp; NHƯỢC ĐIỂM CỦA FIGMA</a:t>
            </a:r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4EA27BF9-65B7-1C31-5C69-B1FE77D8F87E}"/>
              </a:ext>
            </a:extLst>
          </p:cNvPr>
          <p:cNvSpPr/>
          <p:nvPr/>
        </p:nvSpPr>
        <p:spPr>
          <a:xfrm>
            <a:off x="-8534400" y="6224878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E740F587-8959-74B6-2D16-44502254465B}"/>
              </a:ext>
            </a:extLst>
          </p:cNvPr>
          <p:cNvSpPr txBox="1"/>
          <p:nvPr/>
        </p:nvSpPr>
        <p:spPr>
          <a:xfrm>
            <a:off x="-8534400" y="4699952"/>
            <a:ext cx="304671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Ưu điểm: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E0872D59-C832-F986-6C0F-013AF4EDA2E8}"/>
              </a:ext>
            </a:extLst>
          </p:cNvPr>
          <p:cNvSpPr txBox="1"/>
          <p:nvPr/>
        </p:nvSpPr>
        <p:spPr>
          <a:xfrm>
            <a:off x="19486662" y="4102395"/>
            <a:ext cx="428902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Nhược điểm:</a:t>
            </a: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A11C2C1D-FD8F-B3AA-C5D1-31D0C6CD6677}"/>
              </a:ext>
            </a:extLst>
          </p:cNvPr>
          <p:cNvSpPr/>
          <p:nvPr/>
        </p:nvSpPr>
        <p:spPr>
          <a:xfrm>
            <a:off x="-8534400" y="7204949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6EB1164F-4474-7608-024B-D64749E419AE}"/>
              </a:ext>
            </a:extLst>
          </p:cNvPr>
          <p:cNvSpPr/>
          <p:nvPr/>
        </p:nvSpPr>
        <p:spPr>
          <a:xfrm>
            <a:off x="-8534400" y="8185020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94B84882-C1CD-4CF2-6A38-958E774D2399}"/>
              </a:ext>
            </a:extLst>
          </p:cNvPr>
          <p:cNvSpPr txBox="1"/>
          <p:nvPr/>
        </p:nvSpPr>
        <p:spPr>
          <a:xfrm>
            <a:off x="-7564172" y="5853403"/>
            <a:ext cx="4675882" cy="488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1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Dễ dùng </a:t>
            </a:r>
          </a:p>
          <a:p>
            <a:pPr algn="l">
              <a:lnSpc>
                <a:spcPts val="7921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Realtime collaboration </a:t>
            </a:r>
          </a:p>
          <a:p>
            <a:pPr algn="l">
              <a:lnSpc>
                <a:spcPts val="7921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Không cần cài đặt </a:t>
            </a:r>
          </a:p>
          <a:p>
            <a:pPr algn="l">
              <a:lnSpc>
                <a:spcPts val="7921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Tạo prototype nhanh </a:t>
            </a:r>
          </a:p>
          <a:p>
            <a:pPr algn="l">
              <a:lnSpc>
                <a:spcPts val="7921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Free cho sinh viên </a:t>
            </a:r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40F4442B-0F9E-2AF9-FAE6-0B5978ADE505}"/>
              </a:ext>
            </a:extLst>
          </p:cNvPr>
          <p:cNvSpPr/>
          <p:nvPr/>
        </p:nvSpPr>
        <p:spPr>
          <a:xfrm>
            <a:off x="-8534400" y="9167953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7"/>
                </a:lnTo>
                <a:lnTo>
                  <a:pt x="0" y="592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7A736634-6B32-0167-C1D1-2C274E0F979D}"/>
              </a:ext>
            </a:extLst>
          </p:cNvPr>
          <p:cNvSpPr/>
          <p:nvPr/>
        </p:nvSpPr>
        <p:spPr>
          <a:xfrm>
            <a:off x="-8534400" y="10150885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636A9C12-851F-4A23-069C-966B4A56A096}"/>
              </a:ext>
            </a:extLst>
          </p:cNvPr>
          <p:cNvSpPr txBox="1"/>
          <p:nvPr/>
        </p:nvSpPr>
        <p:spPr>
          <a:xfrm>
            <a:off x="20458429" y="5255846"/>
            <a:ext cx="8250734" cy="288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1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Phụ thuộc internet </a:t>
            </a:r>
          </a:p>
          <a:p>
            <a:pPr algn="l">
              <a:lnSpc>
                <a:spcPts val="7921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Prototype không thay thế được app thật </a:t>
            </a:r>
          </a:p>
          <a:p>
            <a:pPr algn="l">
              <a:lnSpc>
                <a:spcPts val="7921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Performance lag nếu file quá nặng 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0CB3B499-B8E1-B7E6-1872-FC696C889BA0}"/>
              </a:ext>
            </a:extLst>
          </p:cNvPr>
          <p:cNvSpPr/>
          <p:nvPr/>
        </p:nvSpPr>
        <p:spPr>
          <a:xfrm>
            <a:off x="19486662" y="5627321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14">
            <a:extLst>
              <a:ext uri="{FF2B5EF4-FFF2-40B4-BE49-F238E27FC236}">
                <a16:creationId xmlns:a16="http://schemas.microsoft.com/office/drawing/2014/main" id="{CB03A1BF-F7B6-6CCF-502B-BF42772C4981}"/>
              </a:ext>
            </a:extLst>
          </p:cNvPr>
          <p:cNvSpPr/>
          <p:nvPr/>
        </p:nvSpPr>
        <p:spPr>
          <a:xfrm>
            <a:off x="19486662" y="6607392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15">
            <a:extLst>
              <a:ext uri="{FF2B5EF4-FFF2-40B4-BE49-F238E27FC236}">
                <a16:creationId xmlns:a16="http://schemas.microsoft.com/office/drawing/2014/main" id="{51579EE0-F147-D911-7285-A4F04D00560F}"/>
              </a:ext>
            </a:extLst>
          </p:cNvPr>
          <p:cNvSpPr/>
          <p:nvPr/>
        </p:nvSpPr>
        <p:spPr>
          <a:xfrm>
            <a:off x="19486662" y="7587463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671978"/>
            <a:ext cx="1596210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7. ƯU ĐIỂM &amp; NHƯỢC ĐIỂM CỦA FIGMA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4551092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026166"/>
            <a:ext cx="304671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Ưu điểm: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47796" y="3026166"/>
            <a:ext cx="428902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Nhược điểm:</a:t>
            </a:r>
          </a:p>
        </p:txBody>
      </p:sp>
      <p:sp>
        <p:nvSpPr>
          <p:cNvPr id="7" name="Freeform 7"/>
          <p:cNvSpPr/>
          <p:nvPr/>
        </p:nvSpPr>
        <p:spPr>
          <a:xfrm>
            <a:off x="1028700" y="5531163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6511234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98928" y="4179617"/>
            <a:ext cx="4675882" cy="488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1"/>
              </a:lnSpc>
            </a:pP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Dễ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dùng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algn="l">
              <a:lnSpc>
                <a:spcPts val="7921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Realtime collaboration </a:t>
            </a:r>
          </a:p>
          <a:p>
            <a:pPr algn="l">
              <a:lnSpc>
                <a:spcPts val="7921"/>
              </a:lnSpc>
            </a:pP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Không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cần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cài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đặt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algn="l">
              <a:lnSpc>
                <a:spcPts val="7921"/>
              </a:lnSpc>
            </a:pP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Tạo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prototype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nhanh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algn="l">
              <a:lnSpc>
                <a:spcPts val="7921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Free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cho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sinh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viên</a:t>
            </a: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7494167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7"/>
                </a:lnTo>
                <a:lnTo>
                  <a:pt x="0" y="592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8477099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819563" y="4179617"/>
            <a:ext cx="8250734" cy="288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1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Phụ thuộc internet </a:t>
            </a:r>
          </a:p>
          <a:p>
            <a:pPr algn="l">
              <a:lnSpc>
                <a:spcPts val="7921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Prototype không thay thế được app thật </a:t>
            </a:r>
          </a:p>
          <a:p>
            <a:pPr algn="l">
              <a:lnSpc>
                <a:spcPts val="7921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Performance lag nếu file quá nặng </a:t>
            </a:r>
          </a:p>
        </p:txBody>
      </p:sp>
      <p:sp>
        <p:nvSpPr>
          <p:cNvPr id="13" name="Freeform 13"/>
          <p:cNvSpPr/>
          <p:nvPr/>
        </p:nvSpPr>
        <p:spPr>
          <a:xfrm>
            <a:off x="8847796" y="4551092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847796" y="5531163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847796" y="6511234"/>
            <a:ext cx="592408" cy="592408"/>
          </a:xfrm>
          <a:custGeom>
            <a:avLst/>
            <a:gdLst/>
            <a:ahLst/>
            <a:cxnLst/>
            <a:rect l="l" t="t" r="r" b="b"/>
            <a:pathLst>
              <a:path w="592408" h="592408">
                <a:moveTo>
                  <a:pt x="0" y="0"/>
                </a:moveTo>
                <a:lnTo>
                  <a:pt x="592408" y="0"/>
                </a:lnTo>
                <a:lnTo>
                  <a:pt x="592408" y="592408"/>
                </a:lnTo>
                <a:lnTo>
                  <a:pt x="0" y="592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4">
            <a:extLst>
              <a:ext uri="{FF2B5EF4-FFF2-40B4-BE49-F238E27FC236}">
                <a16:creationId xmlns:a16="http://schemas.microsoft.com/office/drawing/2014/main" id="{18BAE5B5-4A2D-915A-56AF-488374BCF5EE}"/>
              </a:ext>
            </a:extLst>
          </p:cNvPr>
          <p:cNvSpPr/>
          <p:nvPr/>
        </p:nvSpPr>
        <p:spPr>
          <a:xfrm rot="678324">
            <a:off x="-1211375" y="13074934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DB9CA29C-57D1-E848-00F2-3B1A893BF721}"/>
              </a:ext>
            </a:extLst>
          </p:cNvPr>
          <p:cNvSpPr/>
          <p:nvPr/>
        </p:nvSpPr>
        <p:spPr>
          <a:xfrm>
            <a:off x="14674956" y="19782140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4"/>
                </a:lnTo>
                <a:lnTo>
                  <a:pt x="0" y="849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72734DCF-DA43-39E6-A769-943BA173261A}"/>
              </a:ext>
            </a:extLst>
          </p:cNvPr>
          <p:cNvSpPr txBox="1"/>
          <p:nvPr/>
        </p:nvSpPr>
        <p:spPr>
          <a:xfrm>
            <a:off x="19126200" y="245313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17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7C4A6F83-9646-0CDA-E0DE-05F3186565B7}"/>
              </a:ext>
            </a:extLst>
          </p:cNvPr>
          <p:cNvSpPr txBox="1"/>
          <p:nvPr/>
        </p:nvSpPr>
        <p:spPr>
          <a:xfrm>
            <a:off x="-13410045" y="428193"/>
            <a:ext cx="1596210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8. TẠO PROTOTYPE TRONG FIGMA</a:t>
            </a:r>
          </a:p>
        </p:txBody>
      </p:sp>
      <p:pic>
        <p:nvPicPr>
          <p:cNvPr id="24" name="7897120637484">
            <a:hlinkClick r:id="" action="ppaction://media"/>
            <a:extLst>
              <a:ext uri="{FF2B5EF4-FFF2-40B4-BE49-F238E27FC236}">
                <a16:creationId xmlns:a16="http://schemas.microsoft.com/office/drawing/2014/main" id="{2E7A4C60-5DEE-9FE2-5739-635078945E7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174200" y="3819282"/>
            <a:ext cx="3359274" cy="18022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366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678324">
            <a:off x="1693082" y="2566593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634960" y="8881243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4"/>
                </a:lnTo>
                <a:lnTo>
                  <a:pt x="0" y="849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71978"/>
            <a:ext cx="1596210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8. TẠO PROTOTYPE TRONG FIGMA</a:t>
            </a: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172CE74C-3DA0-8385-2298-22F592DBFC25}"/>
              </a:ext>
            </a:extLst>
          </p:cNvPr>
          <p:cNvGrpSpPr/>
          <p:nvPr/>
        </p:nvGrpSpPr>
        <p:grpSpPr>
          <a:xfrm>
            <a:off x="6882370" y="15740111"/>
            <a:ext cx="5966727" cy="1184911"/>
            <a:chOff x="0" y="0"/>
            <a:chExt cx="7955636" cy="1579881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60A74603-4EB2-C165-5124-DBC90EBF789C}"/>
                </a:ext>
              </a:extLst>
            </p:cNvPr>
            <p:cNvSpPr/>
            <p:nvPr/>
          </p:nvSpPr>
          <p:spPr>
            <a:xfrm>
              <a:off x="0" y="33483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4"/>
                  </a:lnTo>
                  <a:lnTo>
                    <a:pt x="0" y="709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A010726E-DD14-AFB6-C362-C97EC654DF4B}"/>
                </a:ext>
              </a:extLst>
            </p:cNvPr>
            <p:cNvSpPr txBox="1"/>
            <p:nvPr/>
          </p:nvSpPr>
          <p:spPr>
            <a:xfrm>
              <a:off x="1299925" y="705257"/>
              <a:ext cx="665571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FD1FAD67-D3DF-41D4-6662-6574055CADA1}"/>
                </a:ext>
              </a:extLst>
            </p:cNvPr>
            <p:cNvSpPr txBox="1"/>
            <p:nvPr/>
          </p:nvSpPr>
          <p:spPr>
            <a:xfrm>
              <a:off x="1299925" y="-76200"/>
              <a:ext cx="6655711" cy="1656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Giao diện trang menu, tìm kiếm món ăn</a:t>
              </a:r>
            </a:p>
          </p:txBody>
        </p:sp>
      </p:grpSp>
      <p:grpSp>
        <p:nvGrpSpPr>
          <p:cNvPr id="14" name="Group 6">
            <a:extLst>
              <a:ext uri="{FF2B5EF4-FFF2-40B4-BE49-F238E27FC236}">
                <a16:creationId xmlns:a16="http://schemas.microsoft.com/office/drawing/2014/main" id="{527128B1-B467-6BD0-FF23-3E296EA666B5}"/>
              </a:ext>
            </a:extLst>
          </p:cNvPr>
          <p:cNvGrpSpPr/>
          <p:nvPr/>
        </p:nvGrpSpPr>
        <p:grpSpPr>
          <a:xfrm>
            <a:off x="6884826" y="14706972"/>
            <a:ext cx="5941201" cy="826123"/>
            <a:chOff x="0" y="0"/>
            <a:chExt cx="7921601" cy="1101497"/>
          </a:xfrm>
        </p:grpSpPr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2F981B94-11E7-1382-3CD9-AC1D6482CCD8}"/>
                </a:ext>
              </a:extLst>
            </p:cNvPr>
            <p:cNvSpPr/>
            <p:nvPr/>
          </p:nvSpPr>
          <p:spPr>
            <a:xfrm>
              <a:off x="0" y="33483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4"/>
                  </a:lnTo>
                  <a:lnTo>
                    <a:pt x="0" y="709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TextBox 8">
              <a:extLst>
                <a:ext uri="{FF2B5EF4-FFF2-40B4-BE49-F238E27FC236}">
                  <a16:creationId xmlns:a16="http://schemas.microsoft.com/office/drawing/2014/main" id="{CA7E53B4-8707-6676-4E7F-F6F34E8A10E6}"/>
                </a:ext>
              </a:extLst>
            </p:cNvPr>
            <p:cNvSpPr txBox="1"/>
            <p:nvPr/>
          </p:nvSpPr>
          <p:spPr>
            <a:xfrm>
              <a:off x="1265890" y="705257"/>
              <a:ext cx="665571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1469B540-8971-3F46-4105-AD99200F78AE}"/>
                </a:ext>
              </a:extLst>
            </p:cNvPr>
            <p:cNvSpPr txBox="1"/>
            <p:nvPr/>
          </p:nvSpPr>
          <p:spPr>
            <a:xfrm>
              <a:off x="1265890" y="-76200"/>
              <a:ext cx="6655711" cy="805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Giao diện đăng nhập</a:t>
              </a:r>
            </a:p>
          </p:txBody>
        </p:sp>
      </p:grpSp>
      <p:grpSp>
        <p:nvGrpSpPr>
          <p:cNvPr id="18" name="Group 10">
            <a:extLst>
              <a:ext uri="{FF2B5EF4-FFF2-40B4-BE49-F238E27FC236}">
                <a16:creationId xmlns:a16="http://schemas.microsoft.com/office/drawing/2014/main" id="{A4DBD2F8-0F05-598D-81B1-4CB62FC41098}"/>
              </a:ext>
            </a:extLst>
          </p:cNvPr>
          <p:cNvGrpSpPr/>
          <p:nvPr/>
        </p:nvGrpSpPr>
        <p:grpSpPr>
          <a:xfrm>
            <a:off x="19126200" y="1672279"/>
            <a:ext cx="8402439" cy="6942441"/>
            <a:chOff x="0" y="0"/>
            <a:chExt cx="983732" cy="812800"/>
          </a:xfrm>
        </p:grpSpPr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FA1C706B-7A69-4ADC-9F4E-1E6159A58D29}"/>
                </a:ext>
              </a:extLst>
            </p:cNvPr>
            <p:cNvSpPr/>
            <p:nvPr/>
          </p:nvSpPr>
          <p:spPr>
            <a:xfrm>
              <a:off x="0" y="0"/>
              <a:ext cx="983732" cy="812800"/>
            </a:xfrm>
            <a:custGeom>
              <a:avLst/>
              <a:gdLst/>
              <a:ahLst/>
              <a:cxnLst/>
              <a:rect l="l" t="t" r="r" b="b"/>
              <a:pathLst>
                <a:path w="983732" h="812800">
                  <a:moveTo>
                    <a:pt x="0" y="0"/>
                  </a:moveTo>
                  <a:lnTo>
                    <a:pt x="983732" y="0"/>
                  </a:lnTo>
                  <a:lnTo>
                    <a:pt x="98373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3134" r="-3134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20" name="Freeform 12">
            <a:extLst>
              <a:ext uri="{FF2B5EF4-FFF2-40B4-BE49-F238E27FC236}">
                <a16:creationId xmlns:a16="http://schemas.microsoft.com/office/drawing/2014/main" id="{8B50A73E-49C6-F300-0D0A-E92B830EE645}"/>
              </a:ext>
            </a:extLst>
          </p:cNvPr>
          <p:cNvSpPr/>
          <p:nvPr/>
        </p:nvSpPr>
        <p:spPr>
          <a:xfrm rot="678324">
            <a:off x="-3386460" y="18299517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7" y="0"/>
                </a:lnTo>
                <a:lnTo>
                  <a:pt x="774837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9508CD1C-E0A1-8116-4E43-63A2911EB998}"/>
              </a:ext>
            </a:extLst>
          </p:cNvPr>
          <p:cNvSpPr/>
          <p:nvPr/>
        </p:nvSpPr>
        <p:spPr>
          <a:xfrm>
            <a:off x="5434783" y="11454650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63001D2D-FA95-B9F2-78C1-C73E82B75E48}"/>
              </a:ext>
            </a:extLst>
          </p:cNvPr>
          <p:cNvSpPr txBox="1"/>
          <p:nvPr/>
        </p:nvSpPr>
        <p:spPr>
          <a:xfrm>
            <a:off x="12150938" y="10544547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18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EEBD391E-332F-C0F0-C238-2D5113DC7056}"/>
              </a:ext>
            </a:extLst>
          </p:cNvPr>
          <p:cNvSpPr txBox="1"/>
          <p:nvPr/>
        </p:nvSpPr>
        <p:spPr>
          <a:xfrm>
            <a:off x="-8382000" y="1891178"/>
            <a:ext cx="6604452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9. VÍ DỤ THỰC TẾ </a:t>
            </a: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9A571EE6-8F46-55C4-3654-20AAE4C91613}"/>
              </a:ext>
            </a:extLst>
          </p:cNvPr>
          <p:cNvSpPr txBox="1"/>
          <p:nvPr/>
        </p:nvSpPr>
        <p:spPr>
          <a:xfrm>
            <a:off x="6728779" y="13168894"/>
            <a:ext cx="6783569" cy="69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Các giao diện khách hàng</a:t>
            </a:r>
          </a:p>
        </p:txBody>
      </p:sp>
      <p:pic>
        <p:nvPicPr>
          <p:cNvPr id="25" name="7897120637484">
            <a:hlinkClick r:id="" action="ppaction://media"/>
            <a:extLst>
              <a:ext uri="{FF2B5EF4-FFF2-40B4-BE49-F238E27FC236}">
                <a16:creationId xmlns:a16="http://schemas.microsoft.com/office/drawing/2014/main" id="{205B23DE-3EDA-8918-D999-421BC299A93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624765" y="2110968"/>
            <a:ext cx="13948214" cy="7483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366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29322" y="6176639"/>
            <a:ext cx="5966727" cy="1184911"/>
            <a:chOff x="0" y="0"/>
            <a:chExt cx="7955636" cy="1579881"/>
          </a:xfrm>
        </p:grpSpPr>
        <p:sp>
          <p:nvSpPr>
            <p:cNvPr id="3" name="Freeform 3"/>
            <p:cNvSpPr/>
            <p:nvPr/>
          </p:nvSpPr>
          <p:spPr>
            <a:xfrm>
              <a:off x="0" y="33483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4"/>
                  </a:lnTo>
                  <a:lnTo>
                    <a:pt x="0" y="709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1299925" y="705257"/>
              <a:ext cx="665571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99925" y="-76200"/>
              <a:ext cx="6655711" cy="1656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39"/>
                </a:lnSpc>
              </a:pP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Giao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diện</a:t>
              </a: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trang</a:t>
              </a: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menu,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tìm</a:t>
              </a: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kiếm</a:t>
              </a: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món</a:t>
              </a: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ăn</a:t>
              </a:r>
              <a:endParaRPr lang="en-US" sz="3599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631778" y="5143500"/>
            <a:ext cx="5941201" cy="826123"/>
            <a:chOff x="0" y="0"/>
            <a:chExt cx="7921601" cy="1101497"/>
          </a:xfrm>
        </p:grpSpPr>
        <p:sp>
          <p:nvSpPr>
            <p:cNvPr id="7" name="Freeform 7"/>
            <p:cNvSpPr/>
            <p:nvPr/>
          </p:nvSpPr>
          <p:spPr>
            <a:xfrm>
              <a:off x="0" y="33483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4"/>
                  </a:lnTo>
                  <a:lnTo>
                    <a:pt x="0" y="709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1265890" y="705257"/>
              <a:ext cx="665571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65890" y="-76200"/>
              <a:ext cx="6655711" cy="805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Giao diện đăng nhập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2315859"/>
            <a:ext cx="8402439" cy="6942441"/>
            <a:chOff x="0" y="0"/>
            <a:chExt cx="983732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83732" cy="812800"/>
            </a:xfrm>
            <a:custGeom>
              <a:avLst/>
              <a:gdLst/>
              <a:ahLst/>
              <a:cxnLst/>
              <a:rect l="l" t="t" r="r" b="b"/>
              <a:pathLst>
                <a:path w="983732" h="812800">
                  <a:moveTo>
                    <a:pt x="0" y="0"/>
                  </a:moveTo>
                  <a:lnTo>
                    <a:pt x="983732" y="0"/>
                  </a:lnTo>
                  <a:lnTo>
                    <a:pt x="98373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3134" r="-3134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2" name="Freeform 12"/>
          <p:cNvSpPr/>
          <p:nvPr/>
        </p:nvSpPr>
        <p:spPr>
          <a:xfrm rot="678324">
            <a:off x="360492" y="8736045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7" y="0"/>
                </a:lnTo>
                <a:lnTo>
                  <a:pt x="774837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181735" y="1891178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00152" y="1904628"/>
            <a:ext cx="6604452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9. VÍ DỤ THỰC TẾ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75731" y="3605422"/>
            <a:ext cx="6783569" cy="69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Các </a:t>
            </a:r>
            <a:r>
              <a:rPr lang="en-US" sz="41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giao</a:t>
            </a:r>
            <a:r>
              <a:rPr lang="en-US" sz="41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41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diện</a:t>
            </a:r>
            <a:r>
              <a:rPr lang="en-US" sz="41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41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khách</a:t>
            </a:r>
            <a:r>
              <a:rPr lang="en-US" sz="41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41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hàng</a:t>
            </a:r>
            <a:endParaRPr lang="en-US" sz="41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416631B6-730C-24AD-9FB7-7414B5949C99}"/>
              </a:ext>
            </a:extLst>
          </p:cNvPr>
          <p:cNvGrpSpPr/>
          <p:nvPr/>
        </p:nvGrpSpPr>
        <p:grpSpPr>
          <a:xfrm>
            <a:off x="-4267200" y="440629"/>
            <a:ext cx="4991783" cy="826123"/>
            <a:chOff x="0" y="0"/>
            <a:chExt cx="6655711" cy="1101497"/>
          </a:xfrm>
        </p:grpSpPr>
        <p:sp>
          <p:nvSpPr>
            <p:cNvPr id="18" name="TextBox 3">
              <a:extLst>
                <a:ext uri="{FF2B5EF4-FFF2-40B4-BE49-F238E27FC236}">
                  <a16:creationId xmlns:a16="http://schemas.microsoft.com/office/drawing/2014/main" id="{9C042FFC-88C1-3832-FED9-C4ED2CFA40B7}"/>
                </a:ext>
              </a:extLst>
            </p:cNvPr>
            <p:cNvSpPr txBox="1"/>
            <p:nvPr/>
          </p:nvSpPr>
          <p:spPr>
            <a:xfrm>
              <a:off x="0" y="705257"/>
              <a:ext cx="665571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88049D25-F6C8-FDC8-E401-E19FA5361CCE}"/>
                </a:ext>
              </a:extLst>
            </p:cNvPr>
            <p:cNvSpPr txBox="1"/>
            <p:nvPr/>
          </p:nvSpPr>
          <p:spPr>
            <a:xfrm>
              <a:off x="0" y="-76200"/>
              <a:ext cx="6655711" cy="805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39"/>
                </a:lnSpc>
              </a:pP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Demo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figma</a:t>
              </a:r>
              <a:endParaRPr lang="en-US" sz="3599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2" name="Freeform 7">
            <a:extLst>
              <a:ext uri="{FF2B5EF4-FFF2-40B4-BE49-F238E27FC236}">
                <a16:creationId xmlns:a16="http://schemas.microsoft.com/office/drawing/2014/main" id="{10F7FD10-00E9-2240-E5A3-78CF9893913D}"/>
              </a:ext>
            </a:extLst>
          </p:cNvPr>
          <p:cNvSpPr/>
          <p:nvPr/>
        </p:nvSpPr>
        <p:spPr>
          <a:xfrm rot="678324">
            <a:off x="5208650" y="19260994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4A87C0FB-A0E2-0FD0-9A59-C3A169EC51E3}"/>
              </a:ext>
            </a:extLst>
          </p:cNvPr>
          <p:cNvSpPr/>
          <p:nvPr/>
        </p:nvSpPr>
        <p:spPr>
          <a:xfrm>
            <a:off x="9226873" y="12131414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7" y="0"/>
                </a:lnTo>
                <a:lnTo>
                  <a:pt x="498807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4B15D70D-B3B7-08D9-10EC-955B5A3C61DB}"/>
              </a:ext>
            </a:extLst>
          </p:cNvPr>
          <p:cNvSpPr txBox="1"/>
          <p:nvPr/>
        </p:nvSpPr>
        <p:spPr>
          <a:xfrm>
            <a:off x="14566247" y="11291177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19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C42D5C62-190A-FBB8-0947-638A0C33DA27}"/>
              </a:ext>
            </a:extLst>
          </p:cNvPr>
          <p:cNvSpPr txBox="1"/>
          <p:nvPr/>
        </p:nvSpPr>
        <p:spPr>
          <a:xfrm>
            <a:off x="-5216618" y="354904"/>
            <a:ext cx="662583" cy="655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👉</a:t>
            </a: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D37528FA-B344-F235-4EFD-2F2E4DECED20}"/>
              </a:ext>
            </a:extLst>
          </p:cNvPr>
          <p:cNvGrpSpPr/>
          <p:nvPr/>
        </p:nvGrpSpPr>
        <p:grpSpPr>
          <a:xfrm>
            <a:off x="10637426" y="7601388"/>
            <a:ext cx="5966727" cy="883273"/>
            <a:chOff x="0" y="-76200"/>
            <a:chExt cx="7955636" cy="117769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45BD64A4-10BA-9740-E586-6D247B05D153}"/>
                </a:ext>
              </a:extLst>
            </p:cNvPr>
            <p:cNvSpPr/>
            <p:nvPr/>
          </p:nvSpPr>
          <p:spPr>
            <a:xfrm>
              <a:off x="0" y="33483"/>
              <a:ext cx="709875" cy="709874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4"/>
                  </a:lnTo>
                  <a:lnTo>
                    <a:pt x="0" y="709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67633777-E213-3BCA-0E14-9F34C434D717}"/>
                </a:ext>
              </a:extLst>
            </p:cNvPr>
            <p:cNvSpPr txBox="1"/>
            <p:nvPr/>
          </p:nvSpPr>
          <p:spPr>
            <a:xfrm>
              <a:off x="1299925" y="705257"/>
              <a:ext cx="665571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  <p:sp>
          <p:nvSpPr>
            <p:cNvPr id="31" name="TextBox 5">
              <a:extLst>
                <a:ext uri="{FF2B5EF4-FFF2-40B4-BE49-F238E27FC236}">
                  <a16:creationId xmlns:a16="http://schemas.microsoft.com/office/drawing/2014/main" id="{1DE5DA0E-8E9E-1B2C-E190-4858C66DFE83}"/>
                </a:ext>
              </a:extLst>
            </p:cNvPr>
            <p:cNvSpPr txBox="1"/>
            <p:nvPr/>
          </p:nvSpPr>
          <p:spPr>
            <a:xfrm>
              <a:off x="1299925" y="-76200"/>
              <a:ext cx="6655711" cy="788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39"/>
                </a:lnSpc>
              </a:pP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Và</a:t>
              </a: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các</a:t>
              </a: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giao</a:t>
              </a: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diện</a:t>
              </a: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khác</a:t>
              </a:r>
              <a:endParaRPr lang="en-US" sz="3599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C802FEEA-66C2-9AD4-2D90-917BD720EA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-6867341" y="6854172"/>
            <a:ext cx="3301446" cy="14122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78118" y="1130618"/>
            <a:ext cx="8738569" cy="883273"/>
            <a:chOff x="0" y="-76200"/>
            <a:chExt cx="11651426" cy="1177697"/>
          </a:xfrm>
        </p:grpSpPr>
        <p:sp>
          <p:nvSpPr>
            <p:cNvPr id="3" name="TextBox 3"/>
            <p:cNvSpPr txBox="1"/>
            <p:nvPr/>
          </p:nvSpPr>
          <p:spPr>
            <a:xfrm>
              <a:off x="0" y="705257"/>
              <a:ext cx="665571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1651426" cy="7885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039"/>
                </a:lnSpc>
              </a:pP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Demo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thiết</a:t>
              </a: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kế</a:t>
              </a: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prototype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bằng</a:t>
              </a:r>
              <a:r>
                <a:rPr lang="en-US" sz="3599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599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figma</a:t>
              </a:r>
              <a:endParaRPr lang="en-US" sz="3599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 rot="678324">
            <a:off x="821581" y="8284834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302363" y="1847089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7" y="0"/>
                </a:lnTo>
                <a:lnTo>
                  <a:pt x="498807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102043"/>
            <a:ext cx="662583" cy="655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👉</a:t>
            </a:r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8E03E483-0BCF-439C-3EBC-0B2EC9F11BCC}"/>
              </a:ext>
            </a:extLst>
          </p:cNvPr>
          <p:cNvGrpSpPr/>
          <p:nvPr/>
        </p:nvGrpSpPr>
        <p:grpSpPr>
          <a:xfrm>
            <a:off x="21336000" y="2834293"/>
            <a:ext cx="6629813" cy="5905571"/>
            <a:chOff x="0" y="0"/>
            <a:chExt cx="1087502" cy="968703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4F0506DA-A490-0FE2-2675-02638BFBE64F}"/>
                </a:ext>
              </a:extLst>
            </p:cNvPr>
            <p:cNvSpPr/>
            <p:nvPr/>
          </p:nvSpPr>
          <p:spPr>
            <a:xfrm>
              <a:off x="0" y="0"/>
              <a:ext cx="1087502" cy="968703"/>
            </a:xfrm>
            <a:custGeom>
              <a:avLst/>
              <a:gdLst/>
              <a:ahLst/>
              <a:cxnLst/>
              <a:rect l="l" t="t" r="r" b="b"/>
              <a:pathLst>
                <a:path w="1087502" h="968703">
                  <a:moveTo>
                    <a:pt x="0" y="0"/>
                  </a:moveTo>
                  <a:lnTo>
                    <a:pt x="1087502" y="0"/>
                  </a:lnTo>
                  <a:lnTo>
                    <a:pt x="1087502" y="968703"/>
                  </a:lnTo>
                  <a:lnTo>
                    <a:pt x="0" y="968703"/>
                  </a:lnTo>
                  <a:close/>
                </a:path>
              </a:pathLst>
            </a:custGeom>
            <a:blipFill>
              <a:blip r:embed="rId4"/>
              <a:stretch>
                <a:fillRect l="-19185" r="-19185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23" name="Freeform 4">
            <a:extLst>
              <a:ext uri="{FF2B5EF4-FFF2-40B4-BE49-F238E27FC236}">
                <a16:creationId xmlns:a16="http://schemas.microsoft.com/office/drawing/2014/main" id="{EC1CF3F1-2994-A854-11DF-C87BBE4687D4}"/>
              </a:ext>
            </a:extLst>
          </p:cNvPr>
          <p:cNvSpPr/>
          <p:nvPr/>
        </p:nvSpPr>
        <p:spPr>
          <a:xfrm rot="678324">
            <a:off x="-1511781" y="21217664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E0245E53-2363-91DF-900B-9EE22D6E759E}"/>
              </a:ext>
            </a:extLst>
          </p:cNvPr>
          <p:cNvSpPr/>
          <p:nvPr/>
        </p:nvSpPr>
        <p:spPr>
          <a:xfrm>
            <a:off x="5256046" y="15409666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7432E7C7-3AB2-BEAA-E5BE-FEC6E6F766A5}"/>
              </a:ext>
            </a:extLst>
          </p:cNvPr>
          <p:cNvSpPr txBox="1"/>
          <p:nvPr/>
        </p:nvSpPr>
        <p:spPr>
          <a:xfrm>
            <a:off x="13495423" y="13301197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20</a:t>
            </a: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A83A0536-825C-F03F-D892-C7B06DF160E2}"/>
              </a:ext>
            </a:extLst>
          </p:cNvPr>
          <p:cNvSpPr txBox="1"/>
          <p:nvPr/>
        </p:nvSpPr>
        <p:spPr>
          <a:xfrm>
            <a:off x="-7685141" y="1486710"/>
            <a:ext cx="1596210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10. KẾT LUẬN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AD6F1E68-064D-679E-9C29-887816F8AFC6}"/>
              </a:ext>
            </a:extLst>
          </p:cNvPr>
          <p:cNvSpPr txBox="1"/>
          <p:nvPr/>
        </p:nvSpPr>
        <p:spPr>
          <a:xfrm>
            <a:off x="6216440" y="14765388"/>
            <a:ext cx="9669093" cy="5728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5"/>
              </a:lnSpc>
            </a:pPr>
            <a:r>
              <a:rPr lang="en-US" sz="3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Figma giúp: </a:t>
            </a:r>
          </a:p>
          <a:p>
            <a:pPr marL="820417" lvl="1" indent="-410209" algn="l">
              <a:lnSpc>
                <a:spcPts val="7675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Giảm hiểu sai giữa các bên </a:t>
            </a:r>
          </a:p>
          <a:p>
            <a:pPr marL="820417" lvl="1" indent="-410209" algn="l">
              <a:lnSpc>
                <a:spcPts val="7675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Tăng tốc phát triển sản phẩm </a:t>
            </a:r>
          </a:p>
          <a:p>
            <a:pPr marL="820417" lvl="1" indent="-410209" algn="l">
              <a:lnSpc>
                <a:spcPts val="7675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Trực quan hóa yêu cầu </a:t>
            </a:r>
          </a:p>
          <a:p>
            <a:pPr algn="l">
              <a:lnSpc>
                <a:spcPts val="7675"/>
              </a:lnSpc>
            </a:pPr>
            <a:r>
              <a:rPr lang="en-US" sz="3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“Một prototype tốt có thể thay thế hàng chục trang tài liệu”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B1FC82-5320-9A7F-3780-46F057E30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2233" y="2243892"/>
            <a:ext cx="15526928" cy="6641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8104" y="3514226"/>
            <a:ext cx="6629813" cy="5905571"/>
            <a:chOff x="0" y="0"/>
            <a:chExt cx="1087502" cy="9687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7502" cy="968703"/>
            </a:xfrm>
            <a:custGeom>
              <a:avLst/>
              <a:gdLst/>
              <a:ahLst/>
              <a:cxnLst/>
              <a:rect l="l" t="t" r="r" b="b"/>
              <a:pathLst>
                <a:path w="1087502" h="968703">
                  <a:moveTo>
                    <a:pt x="0" y="0"/>
                  </a:moveTo>
                  <a:lnTo>
                    <a:pt x="1087502" y="0"/>
                  </a:lnTo>
                  <a:lnTo>
                    <a:pt x="1087502" y="968703"/>
                  </a:lnTo>
                  <a:lnTo>
                    <a:pt x="0" y="968703"/>
                  </a:lnTo>
                  <a:close/>
                </a:path>
              </a:pathLst>
            </a:custGeom>
            <a:blipFill>
              <a:blip r:embed="rId2"/>
              <a:stretch>
                <a:fillRect l="-19185" r="-19185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rot="678324">
            <a:off x="890686" y="8897542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658513" y="3089544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20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71978"/>
            <a:ext cx="1596210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10. KẾT LUẬN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18907" y="2445266"/>
            <a:ext cx="9669093" cy="5728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5"/>
              </a:lnSpc>
            </a:pP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Figma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giúp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 </a:t>
            </a:r>
          </a:p>
          <a:p>
            <a:pPr marL="820417" lvl="1" indent="-410209" algn="l">
              <a:lnSpc>
                <a:spcPts val="7675"/>
              </a:lnSpc>
              <a:buFont typeface="Arial"/>
              <a:buChar char="•"/>
            </a:pP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Giảm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hiểu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sai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giữa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các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bên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marL="820417" lvl="1" indent="-410209" algn="l">
              <a:lnSpc>
                <a:spcPts val="7675"/>
              </a:lnSpc>
              <a:buFont typeface="Arial"/>
              <a:buChar char="•"/>
            </a:pP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Tăng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tốc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phát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triển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sản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phẩm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marL="820417" lvl="1" indent="-410209" algn="l">
              <a:lnSpc>
                <a:spcPts val="7675"/>
              </a:lnSpc>
              <a:buFont typeface="Arial"/>
              <a:buChar char="•"/>
            </a:pP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Trực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quan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hóa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yêu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cầu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algn="l">
              <a:lnSpc>
                <a:spcPts val="7675"/>
              </a:lnSpc>
            </a:pP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“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Một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prototype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tốt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có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thể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thay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thế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hàng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chục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trang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tài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liệu</a:t>
            </a:r>
            <a:r>
              <a:rPr lang="en-US" sz="37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86439" y="8533388"/>
            <a:ext cx="4472861" cy="724912"/>
            <a:chOff x="0" y="0"/>
            <a:chExt cx="5963815" cy="966550"/>
          </a:xfrm>
        </p:grpSpPr>
        <p:grpSp>
          <p:nvGrpSpPr>
            <p:cNvPr id="3" name="Group 3"/>
            <p:cNvGrpSpPr/>
            <p:nvPr/>
          </p:nvGrpSpPr>
          <p:grpSpPr>
            <a:xfrm>
              <a:off x="1135284" y="0"/>
              <a:ext cx="4828531" cy="966550"/>
              <a:chOff x="0" y="0"/>
              <a:chExt cx="953784" cy="19092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953784" cy="190923"/>
              </a:xfrm>
              <a:custGeom>
                <a:avLst/>
                <a:gdLst/>
                <a:ahLst/>
                <a:cxnLst/>
                <a:rect l="l" t="t" r="r" b="b"/>
                <a:pathLst>
                  <a:path w="953784" h="190923">
                    <a:moveTo>
                      <a:pt x="0" y="0"/>
                    </a:moveTo>
                    <a:lnTo>
                      <a:pt x="953784" y="0"/>
                    </a:lnTo>
                    <a:lnTo>
                      <a:pt x="953784" y="190923"/>
                    </a:lnTo>
                    <a:lnTo>
                      <a:pt x="0" y="190923"/>
                    </a:lnTo>
                    <a:close/>
                  </a:path>
                </a:pathLst>
              </a:custGeom>
              <a:solidFill>
                <a:srgbClr val="F7F7F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953784" cy="2385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966550" cy="966550"/>
              <a:chOff x="0" y="0"/>
              <a:chExt cx="190923" cy="1909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0923" cy="190923"/>
              </a:xfrm>
              <a:custGeom>
                <a:avLst/>
                <a:gdLst/>
                <a:ahLst/>
                <a:cxnLst/>
                <a:rect l="l" t="t" r="r" b="b"/>
                <a:pathLst>
                  <a:path w="190923" h="190923">
                    <a:moveTo>
                      <a:pt x="0" y="0"/>
                    </a:moveTo>
                    <a:lnTo>
                      <a:pt x="190923" y="0"/>
                    </a:lnTo>
                    <a:lnTo>
                      <a:pt x="190923" y="190923"/>
                    </a:lnTo>
                    <a:lnTo>
                      <a:pt x="0" y="190923"/>
                    </a:lnTo>
                    <a:close/>
                  </a:path>
                </a:pathLst>
              </a:custGeom>
              <a:solidFill>
                <a:srgbClr val="F7F7F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90923" cy="2385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53756" y="271185"/>
              <a:ext cx="659037" cy="424180"/>
            </a:xfrm>
            <a:custGeom>
              <a:avLst/>
              <a:gdLst/>
              <a:ahLst/>
              <a:cxnLst/>
              <a:rect l="l" t="t" r="r" b="b"/>
              <a:pathLst>
                <a:path w="659037" h="424180">
                  <a:moveTo>
                    <a:pt x="0" y="0"/>
                  </a:moveTo>
                  <a:lnTo>
                    <a:pt x="659037" y="0"/>
                  </a:lnTo>
                  <a:lnTo>
                    <a:pt x="659037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1135284" y="223560"/>
              <a:ext cx="4828531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07569" y="8533388"/>
            <a:ext cx="4472861" cy="724912"/>
            <a:chOff x="0" y="0"/>
            <a:chExt cx="5963815" cy="966550"/>
          </a:xfrm>
        </p:grpSpPr>
        <p:grpSp>
          <p:nvGrpSpPr>
            <p:cNvPr id="12" name="Group 12"/>
            <p:cNvGrpSpPr/>
            <p:nvPr/>
          </p:nvGrpSpPr>
          <p:grpSpPr>
            <a:xfrm>
              <a:off x="1135284" y="0"/>
              <a:ext cx="4828531" cy="966550"/>
              <a:chOff x="0" y="0"/>
              <a:chExt cx="953784" cy="19092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53784" cy="190923"/>
              </a:xfrm>
              <a:custGeom>
                <a:avLst/>
                <a:gdLst/>
                <a:ahLst/>
                <a:cxnLst/>
                <a:rect l="l" t="t" r="r" b="b"/>
                <a:pathLst>
                  <a:path w="953784" h="190923">
                    <a:moveTo>
                      <a:pt x="0" y="0"/>
                    </a:moveTo>
                    <a:lnTo>
                      <a:pt x="953784" y="0"/>
                    </a:lnTo>
                    <a:lnTo>
                      <a:pt x="953784" y="190923"/>
                    </a:lnTo>
                    <a:lnTo>
                      <a:pt x="0" y="190923"/>
                    </a:lnTo>
                    <a:close/>
                  </a:path>
                </a:pathLst>
              </a:custGeom>
              <a:solidFill>
                <a:srgbClr val="F7F7F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953784" cy="2385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966550" cy="966550"/>
              <a:chOff x="0" y="0"/>
              <a:chExt cx="190923" cy="1909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0923" cy="190923"/>
              </a:xfrm>
              <a:custGeom>
                <a:avLst/>
                <a:gdLst/>
                <a:ahLst/>
                <a:cxnLst/>
                <a:rect l="l" t="t" r="r" b="b"/>
                <a:pathLst>
                  <a:path w="190923" h="190923">
                    <a:moveTo>
                      <a:pt x="0" y="0"/>
                    </a:moveTo>
                    <a:lnTo>
                      <a:pt x="190923" y="0"/>
                    </a:lnTo>
                    <a:lnTo>
                      <a:pt x="190923" y="190923"/>
                    </a:lnTo>
                    <a:lnTo>
                      <a:pt x="0" y="190923"/>
                    </a:lnTo>
                    <a:close/>
                  </a:path>
                </a:pathLst>
              </a:custGeom>
              <a:solidFill>
                <a:srgbClr val="F7F7F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90923" cy="2385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164587" y="168064"/>
              <a:ext cx="637375" cy="630422"/>
            </a:xfrm>
            <a:custGeom>
              <a:avLst/>
              <a:gdLst/>
              <a:ahLst/>
              <a:cxnLst/>
              <a:rect l="l" t="t" r="r" b="b"/>
              <a:pathLst>
                <a:path w="637375" h="630422">
                  <a:moveTo>
                    <a:pt x="0" y="0"/>
                  </a:moveTo>
                  <a:lnTo>
                    <a:pt x="637375" y="0"/>
                  </a:lnTo>
                  <a:lnTo>
                    <a:pt x="637375" y="630422"/>
                  </a:lnTo>
                  <a:lnTo>
                    <a:pt x="0" y="630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1135284" y="223560"/>
              <a:ext cx="4828531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8533388"/>
            <a:ext cx="4472861" cy="724912"/>
            <a:chOff x="0" y="0"/>
            <a:chExt cx="5963815" cy="966550"/>
          </a:xfrm>
        </p:grpSpPr>
        <p:grpSp>
          <p:nvGrpSpPr>
            <p:cNvPr id="21" name="Group 21"/>
            <p:cNvGrpSpPr/>
            <p:nvPr/>
          </p:nvGrpSpPr>
          <p:grpSpPr>
            <a:xfrm>
              <a:off x="1135284" y="0"/>
              <a:ext cx="4828531" cy="966550"/>
              <a:chOff x="0" y="0"/>
              <a:chExt cx="953784" cy="1909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53784" cy="190923"/>
              </a:xfrm>
              <a:custGeom>
                <a:avLst/>
                <a:gdLst/>
                <a:ahLst/>
                <a:cxnLst/>
                <a:rect l="l" t="t" r="r" b="b"/>
                <a:pathLst>
                  <a:path w="953784" h="190923">
                    <a:moveTo>
                      <a:pt x="0" y="0"/>
                    </a:moveTo>
                    <a:lnTo>
                      <a:pt x="953784" y="0"/>
                    </a:lnTo>
                    <a:lnTo>
                      <a:pt x="953784" y="190923"/>
                    </a:lnTo>
                    <a:lnTo>
                      <a:pt x="0" y="190923"/>
                    </a:lnTo>
                    <a:close/>
                  </a:path>
                </a:pathLst>
              </a:custGeom>
              <a:solidFill>
                <a:srgbClr val="F7F7F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953784" cy="2385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966550" cy="966550"/>
              <a:chOff x="0" y="0"/>
              <a:chExt cx="190923" cy="1909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90923" cy="190923"/>
              </a:xfrm>
              <a:custGeom>
                <a:avLst/>
                <a:gdLst/>
                <a:ahLst/>
                <a:cxnLst/>
                <a:rect l="l" t="t" r="r" b="b"/>
                <a:pathLst>
                  <a:path w="190923" h="190923">
                    <a:moveTo>
                      <a:pt x="0" y="0"/>
                    </a:moveTo>
                    <a:lnTo>
                      <a:pt x="190923" y="0"/>
                    </a:lnTo>
                    <a:lnTo>
                      <a:pt x="190923" y="190923"/>
                    </a:lnTo>
                    <a:lnTo>
                      <a:pt x="0" y="190923"/>
                    </a:lnTo>
                    <a:close/>
                  </a:path>
                </a:pathLst>
              </a:custGeom>
              <a:solidFill>
                <a:srgbClr val="F7F7F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90923" cy="2385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205514" y="205514"/>
              <a:ext cx="555521" cy="555521"/>
            </a:xfrm>
            <a:custGeom>
              <a:avLst/>
              <a:gdLst/>
              <a:ahLst/>
              <a:cxnLst/>
              <a:rect l="l" t="t" r="r" b="b"/>
              <a:pathLst>
                <a:path w="555521" h="555521">
                  <a:moveTo>
                    <a:pt x="0" y="0"/>
                  </a:moveTo>
                  <a:lnTo>
                    <a:pt x="555521" y="0"/>
                  </a:lnTo>
                  <a:lnTo>
                    <a:pt x="555521" y="555521"/>
                  </a:lnTo>
                  <a:lnTo>
                    <a:pt x="0" y="555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1135284" y="223560"/>
              <a:ext cx="4828531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21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3571875"/>
            <a:ext cx="7477094" cy="315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80"/>
              </a:lnSpc>
            </a:pPr>
            <a:r>
              <a:rPr lang="en-US" sz="104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THANK YOU FOR WATCHING</a:t>
            </a:r>
          </a:p>
        </p:txBody>
      </p:sp>
      <p:sp>
        <p:nvSpPr>
          <p:cNvPr id="31" name="Freeform 31"/>
          <p:cNvSpPr/>
          <p:nvPr/>
        </p:nvSpPr>
        <p:spPr>
          <a:xfrm rot="678324">
            <a:off x="16363320" y="6223265"/>
            <a:ext cx="969389" cy="1306774"/>
          </a:xfrm>
          <a:custGeom>
            <a:avLst/>
            <a:gdLst/>
            <a:ahLst/>
            <a:cxnLst/>
            <a:rect l="l" t="t" r="r" b="b"/>
            <a:pathLst>
              <a:path w="969389" h="1306774">
                <a:moveTo>
                  <a:pt x="0" y="0"/>
                </a:moveTo>
                <a:lnTo>
                  <a:pt x="969389" y="0"/>
                </a:lnTo>
                <a:lnTo>
                  <a:pt x="969389" y="1306774"/>
                </a:lnTo>
                <a:lnTo>
                  <a:pt x="0" y="13067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1072266" y="1968024"/>
            <a:ext cx="1127677" cy="1127677"/>
          </a:xfrm>
          <a:custGeom>
            <a:avLst/>
            <a:gdLst/>
            <a:ahLst/>
            <a:cxnLst/>
            <a:rect l="l" t="t" r="r" b="b"/>
            <a:pathLst>
              <a:path w="1127677" h="1127677">
                <a:moveTo>
                  <a:pt x="0" y="0"/>
                </a:moveTo>
                <a:lnTo>
                  <a:pt x="1127677" y="0"/>
                </a:lnTo>
                <a:lnTo>
                  <a:pt x="1127677" y="1127677"/>
                </a:lnTo>
                <a:lnTo>
                  <a:pt x="0" y="1127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1496</Words>
  <Application>Microsoft Office PowerPoint</Application>
  <PresentationFormat>Custom</PresentationFormat>
  <Paragraphs>277</Paragraphs>
  <Slides>21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Inter Bold</vt:lpstr>
      <vt:lpstr>Inter</vt:lpstr>
      <vt:lpstr>Inter Medium</vt:lpstr>
      <vt:lpstr>Noto Sans</vt:lpstr>
      <vt:lpstr>Arial</vt:lpstr>
      <vt:lpstr>Anton</vt:lpstr>
      <vt:lpstr>Calibri</vt:lpstr>
      <vt:lpstr>Noto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thiết kế phần mềm_Nhóm_8_FIGMA_PROTOTYPE</dc:title>
  <cp:lastModifiedBy>Quốc Anh Đỗ Hữu</cp:lastModifiedBy>
  <cp:revision>8</cp:revision>
  <dcterms:created xsi:type="dcterms:W3CDTF">2006-08-16T00:00:00Z</dcterms:created>
  <dcterms:modified xsi:type="dcterms:W3CDTF">2026-06-12T02:19:19Z</dcterms:modified>
  <dc:identifier>DAHLJZRXRm8</dc:identifier>
</cp:coreProperties>
</file>